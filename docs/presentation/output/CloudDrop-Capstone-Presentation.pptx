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3296894aa34c3d" /><Relationship Type="http://schemas.openxmlformats.org/officeDocument/2006/relationships/extended-properties" Target="/docProps/app.xml" Id="R704b0bb7851a4d24" /><Relationship Type="http://schemas.openxmlformats.org/officeDocument/2006/relationships/officeDocument" Target="/ppt/presentation.xml" Id="R2174e00c4e344274" /></Relationships>
</file>

<file path=ppt/presentation.xml><?xml version="1.0" encoding="utf-8"?>
<p:presentation xmlns:p="http://schemas.openxmlformats.org/presentationml/2006/main">
  <p:sldMasterIdLst>
    <p:sldMasterId xmlns:r="http://schemas.openxmlformats.org/officeDocument/2006/relationships" id="2147483648" r:id="R57f9c8b550d44b4d"/>
  </p:sldMasterIdLst>
  <p:notesMasterIdLst>
    <p:notesMasterId xmlns:r="http://schemas.openxmlformats.org/officeDocument/2006/relationships" r:id="R70bc685e32a04848"/>
  </p:notesMasterIdLst>
  <p:sldIdLst>
    <p:sldId xmlns:r="http://schemas.openxmlformats.org/officeDocument/2006/relationships" id="256" r:id="R378b5a9d7d964506"/>
    <p:sldId xmlns:r="http://schemas.openxmlformats.org/officeDocument/2006/relationships" id="257" r:id="Rd4b5f1e07e2443d6"/>
    <p:sldId xmlns:r="http://schemas.openxmlformats.org/officeDocument/2006/relationships" id="258" r:id="R1999aa77aae34aa4"/>
    <p:sldId xmlns:r="http://schemas.openxmlformats.org/officeDocument/2006/relationships" id="259" r:id="R68124a49dc404cd7"/>
    <p:sldId xmlns:r="http://schemas.openxmlformats.org/officeDocument/2006/relationships" id="260" r:id="Rb2255fd256c640f4"/>
    <p:sldId xmlns:r="http://schemas.openxmlformats.org/officeDocument/2006/relationships" id="261" r:id="R27cd4cbf13a640ac"/>
    <p:sldId xmlns:r="http://schemas.openxmlformats.org/officeDocument/2006/relationships" id="262" r:id="R83b5af5c18e14038"/>
    <p:sldId xmlns:r="http://schemas.openxmlformats.org/officeDocument/2006/relationships" id="263" r:id="Ra0cd90bcc54948d4"/>
    <p:sldId xmlns:r="http://schemas.openxmlformats.org/officeDocument/2006/relationships" id="264" r:id="Ra6c1fc7acd3e4d29"/>
    <p:sldId xmlns:r="http://schemas.openxmlformats.org/officeDocument/2006/relationships" id="265" r:id="Rb9bb01c6f96543b5"/>
    <p:sldId xmlns:r="http://schemas.openxmlformats.org/officeDocument/2006/relationships" id="266" r:id="Readea3101e5d49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75a9e9d89046b9" /><Relationship Type="http://schemas.openxmlformats.org/officeDocument/2006/relationships/slideMaster" Target="/ppt/slideMasters/slideMaster1.xml" Id="R57f9c8b550d44b4d" /><Relationship Type="http://schemas.openxmlformats.org/officeDocument/2006/relationships/notesMaster" Target="/ppt/notesMasters/notesMaster1.xml" Id="R70bc685e32a04848" /><Relationship Type="http://schemas.openxmlformats.org/officeDocument/2006/relationships/presProps" Target="/ppt/presProps.xml" Id="R547226f1627949c6" /><Relationship Type="http://schemas.openxmlformats.org/officeDocument/2006/relationships/tableStyles" Target="/ppt/tableStyles.xml" Id="R70569893d6234494" /><Relationship Type="http://schemas.openxmlformats.org/officeDocument/2006/relationships/slide" Target="/ppt/slides/slide1.xml" Id="R378b5a9d7d964506" /><Relationship Type="http://schemas.openxmlformats.org/officeDocument/2006/relationships/slide" Target="/ppt/slides/slide2.xml" Id="Rd4b5f1e07e2443d6" /><Relationship Type="http://schemas.openxmlformats.org/officeDocument/2006/relationships/slide" Target="/ppt/slides/slide3.xml" Id="R1999aa77aae34aa4" /><Relationship Type="http://schemas.openxmlformats.org/officeDocument/2006/relationships/slide" Target="/ppt/slides/slide4.xml" Id="R68124a49dc404cd7" /><Relationship Type="http://schemas.openxmlformats.org/officeDocument/2006/relationships/slide" Target="/ppt/slides/slide5.xml" Id="Rb2255fd256c640f4" /><Relationship Type="http://schemas.openxmlformats.org/officeDocument/2006/relationships/slide" Target="/ppt/slides/slide6.xml" Id="R27cd4cbf13a640ac" /><Relationship Type="http://schemas.openxmlformats.org/officeDocument/2006/relationships/slide" Target="/ppt/slides/slide7.xml" Id="R83b5af5c18e14038" /><Relationship Type="http://schemas.openxmlformats.org/officeDocument/2006/relationships/slide" Target="/ppt/slides/slide8.xml" Id="Ra0cd90bcc54948d4" /><Relationship Type="http://schemas.openxmlformats.org/officeDocument/2006/relationships/slide" Target="/ppt/slides/slide9.xml" Id="Ra6c1fc7acd3e4d29" /><Relationship Type="http://schemas.openxmlformats.org/officeDocument/2006/relationships/slide" Target="/ppt/slides/slide10.xml" Id="Rb9bb01c6f96543b5" /><Relationship Type="http://schemas.openxmlformats.org/officeDocument/2006/relationships/slide" Target="/ppt/slides/slide11.xml" Id="Readea3101e5d49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d48aabef194b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6b6723f5f74b70" /><Relationship Type="http://schemas.openxmlformats.org/officeDocument/2006/relationships/notesMaster" Target="/ppt/notesMasters/notesMaster1.xml" Id="R71f3e415614845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20f9206e034ede" /><Relationship Type="http://schemas.openxmlformats.org/officeDocument/2006/relationships/notesMaster" Target="/ppt/notesMasters/notesMaster1.xml" Id="R37f4c68fe4104e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573a7067ee4033" /><Relationship Type="http://schemas.openxmlformats.org/officeDocument/2006/relationships/notesMaster" Target="/ppt/notesMasters/notesMaster1.xml" Id="Rd4a47f9a49cb4f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745ad6ca754ed8" /><Relationship Type="http://schemas.openxmlformats.org/officeDocument/2006/relationships/notesMaster" Target="/ppt/notesMasters/notesMaster1.xml" Id="Ra41e984e45c544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9ee0fe5c004ec7" /><Relationship Type="http://schemas.openxmlformats.org/officeDocument/2006/relationships/notesMaster" Target="/ppt/notesMasters/notesMaster1.xml" Id="R3a4884388b9a41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16cdf1dc5f4d80" /><Relationship Type="http://schemas.openxmlformats.org/officeDocument/2006/relationships/notesMaster" Target="/ppt/notesMasters/notesMaster1.xml" Id="R3dd98a6c2cb748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ce8d6d59d34b7a" /><Relationship Type="http://schemas.openxmlformats.org/officeDocument/2006/relationships/notesMaster" Target="/ppt/notesMasters/notesMaster1.xml" Id="R161b1bdc97f743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f24743b43549c0" /><Relationship Type="http://schemas.openxmlformats.org/officeDocument/2006/relationships/notesMaster" Target="/ppt/notesMasters/notesMaster1.xml" Id="Raf4a7c3c7edf40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1977f170b04607" /><Relationship Type="http://schemas.openxmlformats.org/officeDocument/2006/relationships/notesMaster" Target="/ppt/notesMasters/notesMaster1.xml" Id="Re9c5022a83af49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38c5a86f1f4b66" /><Relationship Type="http://schemas.openxmlformats.org/officeDocument/2006/relationships/notesMaster" Target="/ppt/notesMasters/notesMaster1.xml" Id="R67fe71f039b041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18eebf21f24741" /><Relationship Type="http://schemas.openxmlformats.org/officeDocument/2006/relationships/notesMaster" Target="/ppt/notesMasters/notesMaster1.xml" Id="Rb8c72c9ecd074d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30 seconds.</a:t>
            </a:r>
          </a:p>
          <a:p xmlns:a="http://schemas.openxmlformats.org/drawingml/2006/main">
            <a:r>
              <a:t/>
            </a:r>
          </a:p>
          <a:p xmlns:a="http://schemas.openxmlformats.org/drawingml/2006/main">
            <a:r>
              <a:t>Introduce CloudDrop and TechCrush Cohort 8, Group 3. The application gives users a private workspace to upload, retrieve, manage and temporarily share files. Mention the team lead and acknowledge the six contributors. Point to the live application and repository. Total prepared speaking time across 11 slides is 8 minutes 20 seconds, excluding an extended live demonstration.</a:t>
            </a:r>
          </a:p>
          <a:p xmlns:a="http://schemas.openxmlformats.org/drawingml/2006/main">
            <a:r>
              <a:t/>
            </a:r>
          </a:p>
          <a:p xmlns:a="http://schemas.openxmlformats.org/drawingml/2006/main">
            <a:r>
              <a:t>Sources:</a:t>
            </a:r>
          </a:p>
          <a:p xmlns:a="http://schemas.openxmlformats.org/drawingml/2006/main">
            <a:r>
              <a:t>https://github.com/OmoniyiIfeAbraham/CLOUDDROP</a:t>
            </a:r>
          </a:p>
          <a:p xmlns:a="http://schemas.openxmlformats.org/drawingml/2006/main">
            <a:r>
              <a:t>https://clouddrop-c8.duckdns.org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40 seconds.</a:t>
            </a:r>
          </a:p>
          <a:p xmlns:a="http://schemas.openxmlformats.org/drawingml/2006/main">
            <a:r>
              <a:t/>
            </a:r>
          </a:p>
          <a:p xmlns:a="http://schemas.openxmlformats.org/drawingml/2006/main">
            <a:r>
              <a:t>Explain the four practical problems. A device can fail or disappear, while sending an unrestricted permanent link makes access difficult to control. CloudDrop moves storage into cloud infrastructure and provides a private workspace with expiring sharing. The goal was a working application and deployment, not simply an infrastructure diagram.</a:t>
            </a:r>
          </a:p>
          <a:p xmlns:a="http://schemas.openxmlformats.org/drawingml/2006/main">
            <a:r>
              <a:t/>
            </a:r>
          </a:p>
          <a:p xmlns:a="http://schemas.openxmlformats.org/drawingml/2006/main">
            <a:r>
              <a:t>Sources:</a:t>
            </a:r>
          </a:p>
          <a:p xmlns:a="http://schemas.openxmlformats.org/drawingml/2006/main">
            <a:r>
              <a:t>C:/Users/DELL/Documents/clouddrop/docs/REQUIREMENTS.md</a:t>
            </a:r>
          </a:p>
          <a:p xmlns:a="http://schemas.openxmlformats.org/drawingml/2006/main">
            <a:r>
              <a:t>C:/Users/DELL/Documents/clouddrop/backend/src/lib/share-policy.ts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90 seconds.</a:t>
            </a:r>
          </a:p>
          <a:p xmlns:a="http://schemas.openxmlformats.org/drawingml/2006/main">
            <a:r>
              <a:t/>
            </a:r>
          </a:p>
          <a:p xmlns:a="http://schemas.openxmlformats.org/drawingml/2006/main">
            <a:r>
              <a:t>How CloudDrop works. Start at the browser: HTTPS reaches the DuckDNS domain and the edge Nginx container on EC2. Nginx serves the application through the frontend container and sends /api/v1 and /s requests to the Express backend. The React application executes in the browser. PostgreSQL on RDS stores users, file metadata and share expiry. S3 stores the actual file bytes. The backend validates JWTs and file ownership, uploads or deletes objects, and signs temporary retrieval URLs. The browser then fetches download or preview content directly from S3 using HTTPS. Presigning happens locally in the backend using AWS credentials; it is not an extra S3 network request. The supplied diagram combines that responsibility in its backend-to-S3 label. Public share-token resolution checks PostgreSQL expiry before redirecting to a short-lived S3 URL. Resend handles verification and reset emails. GitHub Actions, GHCR and SSM form the operational deployment path. The diagram reflects repository configuration, while effective IAM and network settings need AWS verification.</a:t>
            </a:r>
          </a:p>
          <a:p xmlns:a="http://schemas.openxmlformats.org/drawingml/2006/main">
            <a:r>
              <a:t/>
            </a:r>
          </a:p>
          <a:p xmlns:a="http://schemas.openxmlformats.org/drawingml/2006/main">
            <a:r>
              <a:t>Sources:</a:t>
            </a:r>
          </a:p>
          <a:p xmlns:a="http://schemas.openxmlformats.org/drawingml/2006/main">
            <a:r>
              <a:t>C:/Users/DELL/Documents/clouddrop/docs/architecture/clouddrop-aws-slide-v4.png</a:t>
            </a:r>
          </a:p>
          <a:p xmlns:a="http://schemas.openxmlformats.org/drawingml/2006/main">
            <a:r>
              <a:t>C:/Users/DELL/Documents/clouddrop/docker-compose.prod.yml</a:t>
            </a:r>
          </a:p>
          <a:p xmlns:a="http://schemas.openxmlformats.org/drawingml/2006/main">
            <a:r>
              <a:t>C:/Users/DELL/Documents/clouddrop/nginx/default.conf</a:t>
            </a:r>
          </a:p>
          <a:p xmlns:a="http://schemas.openxmlformats.org/drawingml/2006/main">
            <a:r>
              <a:t>C:/Users/DELL/Documents/clouddrop/backend/src/server.ts</a:t>
            </a:r>
          </a:p>
          <a:p xmlns:a="http://schemas.openxmlformats.org/drawingml/2006/main">
            <a:r>
              <a:t>C:/Users/DELL/Documents/clouddrop/backend/src/controllers/files.controller.ts</a:t>
            </a:r>
          </a:p>
          <a:p xmlns:a="http://schemas.openxmlformats.org/drawingml/2006/main">
            <a:r>
              <a:t>C:/Users/DELL/Documents/clouddrop/backend/src/services/s3-download.service.ts</a:t>
            </a:r>
          </a:p>
          <a:p xmlns:a="http://schemas.openxmlformats.org/drawingml/2006/main">
            <a:r>
              <a:t>C:/Users/DELL/Documents/clouddrop/backend/src/services/auth.service.ts</a:t>
            </a:r>
          </a:p>
          <a:p xmlns:a="http://schemas.openxmlformats.org/drawingml/2006/main">
            <a:r>
              <a:t>C:/Users/DELL/Documents/clouddrop/.github/workflows/deploy.yml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40 seconds.</a:t>
            </a:r>
          </a:p>
          <a:p xmlns:a="http://schemas.openxmlformats.org/drawingml/2006/main">
            <a:r>
              <a:t/>
            </a:r>
          </a:p>
          <a:p xmlns:a="http://schemas.openxmlformats.org/drawingml/2006/main">
            <a:r>
              <a:t>React and Vite provide the browser interface and static production build. TypeScript is used across both applications. Express provides the API, while Prisma maps application operations to PostgreSQL. EC2 hosts containers, RDS manages the relational database, and S3 stores file objects. Docker standardizes runtime packaging; Nginx handles routing and HTTPS. GitHub Actions and GHCR automate validation and image publishing. Resend supplies transactional email. These are practical reasons the stack fits the project, not an assertion that alternative technologies were formally benchmarked.</a:t>
            </a:r>
          </a:p>
          <a:p xmlns:a="http://schemas.openxmlformats.org/drawingml/2006/main">
            <a:r>
              <a:t/>
            </a:r>
          </a:p>
          <a:p xmlns:a="http://schemas.openxmlformats.org/drawingml/2006/main">
            <a:r>
              <a:t>Sources:</a:t>
            </a:r>
          </a:p>
          <a:p xmlns:a="http://schemas.openxmlformats.org/drawingml/2006/main">
            <a:r>
              <a:t>C:/Users/DELL/Documents/clouddrop/frontend/package.json</a:t>
            </a:r>
          </a:p>
          <a:p xmlns:a="http://schemas.openxmlformats.org/drawingml/2006/main">
            <a:r>
              <a:t>C:/Users/DELL/Documents/clouddrop/backend/package.json</a:t>
            </a:r>
          </a:p>
          <a:p xmlns:a="http://schemas.openxmlformats.org/drawingml/2006/main">
            <a:r>
              <a:t>C:/Users/DELL/Documents/clouddrop/frontend/Dockerfile</a:t>
            </a:r>
          </a:p>
          <a:p xmlns:a="http://schemas.openxmlformats.org/drawingml/2006/main">
            <a:r>
              <a:t>C:/Users/DELL/Documents/clouddrop/backend/Dockerfile</a:t>
            </a:r>
          </a:p>
          <a:p xmlns:a="http://schemas.openxmlformats.org/drawingml/2006/main">
            <a:r>
              <a:t>C:/Users/DELL/Documents/clouddrop/docker-compose.prod.yml</a:t>
            </a:r>
          </a:p>
          <a:p xmlns:a="http://schemas.openxmlformats.org/drawingml/2006/main">
            <a:r>
              <a:t>C:/Users/DELL/Documents/clouddrop/backend/src/services/email.service.ts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50 seconds.</a:t>
            </a:r>
          </a:p>
          <a:p xmlns:a="http://schemas.openxmlformats.org/drawingml/2006/main">
            <a:r>
              <a:t/>
            </a:r>
          </a:p>
          <a:p xmlns:a="http://schemas.openxmlformats.org/drawingml/2006/main">
            <a:r>
              <a:t>Changes enter GitHub through team branches and pull requests. Backend CI installs dependencies, generates Prisma, migrates a PostgreSQL test database, builds and tests the API, then builds images. Frontend CI checks types and lint, runs unit tests, builds the app and exercises browser suites. Main publishes frontend and backend Docker images to GitHub Container Registry with commit-SHA and latest tags. The current deployment workflow is automatic on successful workflow completion for main, and the resolver checks that both workflows succeeded for the same SHA before using matching images. A merge produces the main push that runs these workflows. GitHub uses OIDC to assume an AWS deployment role, and Systems Manager runs scripts on EC2. Manual dispatch remains available and can select tags independently. This confirms configured automation, not the success of a particular production run.</a:t>
            </a:r>
          </a:p>
          <a:p xmlns:a="http://schemas.openxmlformats.org/drawingml/2006/main">
            <a:r>
              <a:t/>
            </a:r>
          </a:p>
          <a:p xmlns:a="http://schemas.openxmlformats.org/drawingml/2006/main">
            <a:r>
              <a:t>Sources:</a:t>
            </a:r>
          </a:p>
          <a:p xmlns:a="http://schemas.openxmlformats.org/drawingml/2006/main">
            <a:r>
              <a:t>C:/Users/DELL/Documents/clouddrop/.github/workflows/ci.yml</a:t>
            </a:r>
          </a:p>
          <a:p xmlns:a="http://schemas.openxmlformats.org/drawingml/2006/main">
            <a:r>
              <a:t>C:/Users/DELL/Documents/clouddrop/.github/workflows/frontend.yml</a:t>
            </a:r>
          </a:p>
          <a:p xmlns:a="http://schemas.openxmlformats.org/drawingml/2006/main">
            <a:r>
              <a:t>C:/Users/DELL/Documents/clouddrop/.github/workflows/deploy.yml</a:t>
            </a:r>
          </a:p>
          <a:p xmlns:a="http://schemas.openxmlformats.org/drawingml/2006/main">
            <a:r>
              <a:t>C:/Users/DELL/Documents/clouddrop/scripts/deploy.sh</a:t>
            </a:r>
          </a:p>
          <a:p xmlns:a="http://schemas.openxmlformats.org/drawingml/2006/main">
            <a:r>
              <a:t>C:/Users/DELL/Documents/clouddrop/scripts/verify-deployment.sh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50 seconds.</a:t>
            </a:r>
          </a:p>
          <a:p xmlns:a="http://schemas.openxmlformats.org/drawingml/2006/main">
            <a:r>
              <a:t/>
            </a:r>
          </a:p>
          <a:p xmlns:a="http://schemas.openxmlformats.org/drawingml/2006/main">
            <a:r>
              <a:t>Describe the implementation sequence shown here. The team provisioned the AWS resources and configured application access. The frontend and backend run as Docker images, with edge Nginx terminating HTTPS and routing requests. DuckDNS provides the public hostname. This screenshot is a fresh capture of the real public login page: HTTP 200 at https://clouddrop-c8.duckdns.org/login on 16 October 2026. The existing project QA report records core-workflow testing and earlier release mismatches. The current workflow pulls images into an existing EC2 checkout; it does not automatically synchronize host configuration or run production Prisma migrations. Confirm these operational steps separately when preparing a release. The screenshot proves public login availability, not successful authentication or every current cloud setting.</a:t>
            </a:r>
          </a:p>
          <a:p xmlns:a="http://schemas.openxmlformats.org/drawingml/2006/main">
            <a:r>
              <a:t/>
            </a:r>
          </a:p>
          <a:p xmlns:a="http://schemas.openxmlformats.org/drawingml/2006/main">
            <a:r>
              <a:t>Sources:</a:t>
            </a:r>
          </a:p>
          <a:p xmlns:a="http://schemas.openxmlformats.org/drawingml/2006/main">
            <a:r>
              <a:t>C:/Users/DELL/Documents/clouddrop/docs/aws-infrastructure.md</a:t>
            </a:r>
          </a:p>
          <a:p xmlns:a="http://schemas.openxmlformats.org/drawingml/2006/main">
            <a:r>
              <a:t>C:/Users/DELL/Documents/clouddrop/docs/DEPLOYMENT.md</a:t>
            </a:r>
          </a:p>
          <a:p xmlns:a="http://schemas.openxmlformats.org/drawingml/2006/main">
            <a:r>
              <a:t>C:/Users/DELL/Documents/clouddrop/docker-compose.prod.yml</a:t>
            </a:r>
          </a:p>
          <a:p xmlns:a="http://schemas.openxmlformats.org/drawingml/2006/main">
            <a:r>
              <a:t>C:/Users/DELL/Documents/clouddrop/nginx/default.conf</a:t>
            </a:r>
          </a:p>
          <a:p xmlns:a="http://schemas.openxmlformats.org/drawingml/2006/main">
            <a:r>
              <a:t>C:/Users/DELL/Documents/clouddrop/scripts/deploy.sh</a:t>
            </a:r>
          </a:p>
          <a:p xmlns:a="http://schemas.openxmlformats.org/drawingml/2006/main">
            <a:r>
              <a:t>C:/Users/DELL/Documents/clouddrop/frontend/docs/final-qa-report.md</a:t>
            </a:r>
          </a:p>
          <a:p xmlns:a="http://schemas.openxmlformats.org/drawingml/2006/main">
            <a:r>
              <a:t>https://clouddrop-c8.duckdns.org/login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40 seconds.</a:t>
            </a:r>
          </a:p>
          <a:p xmlns:a="http://schemas.openxmlformats.org/drawingml/2006/main">
            <a:r>
              <a:t/>
            </a:r>
          </a:p>
          <a:p xmlns:a="http://schemas.openxmlformats.org/drawingml/2006/main">
            <a:r>
              <a:t>Present these as specific project engineering issues. AWS access depends on both service permissions and network configuration. The application also needs consistent database, JWT, email and public URL settings. Frontend and backend contracts needed coordination for file categories, branded short links and URL response fields. The QA report reproduced preview/download header issues, Unicode filename problems and an older deployed frontend. Deployment troubleshooting involved image versions and Nginx routing. Git history contains merged contributions and merge-conflict work across the team. Avoid implying that every historical failure remains in current source or that all infrastructure settings were independently verified today.</a:t>
            </a:r>
          </a:p>
          <a:p xmlns:a="http://schemas.openxmlformats.org/drawingml/2006/main">
            <a:r>
              <a:t/>
            </a:r>
          </a:p>
          <a:p xmlns:a="http://schemas.openxmlformats.org/drawingml/2006/main">
            <a:r>
              <a:t>Sources:</a:t>
            </a:r>
          </a:p>
          <a:p xmlns:a="http://schemas.openxmlformats.org/drawingml/2006/main">
            <a:r>
              <a:t>C:/Users/DELL/Documents/clouddrop/frontend/docs/final-qa-report.md</a:t>
            </a:r>
          </a:p>
          <a:p xmlns:a="http://schemas.openxmlformats.org/drawingml/2006/main">
            <a:r>
              <a:t>C:/Users/DELL/Documents/clouddrop/frontend/docs/backend-download-handoff.md</a:t>
            </a:r>
          </a:p>
          <a:p xmlns:a="http://schemas.openxmlformats.org/drawingml/2006/main">
            <a:r>
              <a:t>C:/Users/DELL/Documents/clouddrop/frontend/docs/backend-short-links-handoff.md</a:t>
            </a:r>
          </a:p>
          <a:p xmlns:a="http://schemas.openxmlformats.org/drawingml/2006/main">
            <a:r>
              <a:t>C:/Users/DELL/Documents/clouddrop/docs/DEVOPS-WORKFLOW.md</a:t>
            </a:r>
          </a:p>
          <a:p xmlns:a="http://schemas.openxmlformats.org/drawingml/2006/main">
            <a:r>
              <a:t>C:/Users/DELL/Documents/clouddrop/.github/workflows/deploy.yml</a:t>
            </a:r>
          </a:p>
          <a:p xmlns:a="http://schemas.openxmlformats.org/drawingml/2006/main">
            <a:r>
              <a:t>C:/Users/DELL/Documents/clouddrop/backend/src/services/auth.service.ts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40 seconds.</a:t>
            </a:r>
          </a:p>
          <a:p xmlns:a="http://schemas.openxmlformats.org/drawingml/2006/main">
            <a:r>
              <a:t/>
            </a:r>
          </a:p>
          <a:p xmlns:a="http://schemas.openxmlformats.org/drawingml/2006/main">
            <a:r>
              <a:t>Connect each engineering challenge to the corresponding implementation. The team configured AWS access and application settings, packaged both services with Docker and coordinated API response contracts. The backend makes authorization decisions and signs URLs for private file retrieval. Testing covers owner isolation, validation, file links, share policy and browser download behavior. Pull requests and CI provide review and integration checkpoints. Deployment scripts pull both images before replacing containers, check health and validate Nginx configuration. These measures improve consistency; the current script still has limitations such as no production migration step and manual backend-only rollback. Do not claim full automatic rollback or infrastructure policy enforcement from this slide.</a:t>
            </a:r>
          </a:p>
          <a:p xmlns:a="http://schemas.openxmlformats.org/drawingml/2006/main">
            <a:r>
              <a:t/>
            </a:r>
          </a:p>
          <a:p xmlns:a="http://schemas.openxmlformats.org/drawingml/2006/main">
            <a:r>
              <a:t>Sources:</a:t>
            </a:r>
          </a:p>
          <a:p xmlns:a="http://schemas.openxmlformats.org/drawingml/2006/main">
            <a:r>
              <a:t>C:/Users/DELL/Documents/clouddrop/docker-compose.prod.yml</a:t>
            </a:r>
          </a:p>
          <a:p xmlns:a="http://schemas.openxmlformats.org/drawingml/2006/main">
            <a:r>
              <a:t>C:/Users/DELL/Documents/clouddrop/scripts/deploy.sh</a:t>
            </a:r>
          </a:p>
          <a:p xmlns:a="http://schemas.openxmlformats.org/drawingml/2006/main">
            <a:r>
              <a:t>C:/Users/DELL/Documents/clouddrop/backend/src/middleware/auth.middleware.ts</a:t>
            </a:r>
          </a:p>
          <a:p xmlns:a="http://schemas.openxmlformats.org/drawingml/2006/main">
            <a:r>
              <a:t>C:/Users/DELL/Documents/clouddrop/backend/src/services/file.service.ts</a:t>
            </a:r>
          </a:p>
          <a:p xmlns:a="http://schemas.openxmlformats.org/drawingml/2006/main">
            <a:r>
              <a:t>C:/Users/DELL/Documents/clouddrop/backend/src/controllers/files.controller.ts</a:t>
            </a:r>
          </a:p>
          <a:p xmlns:a="http://schemas.openxmlformats.org/drawingml/2006/main">
            <a:r>
              <a:t>C:/Users/DELL/Documents/clouddrop/backend/tests/access-control.test.ts</a:t>
            </a:r>
          </a:p>
          <a:p xmlns:a="http://schemas.openxmlformats.org/drawingml/2006/main">
            <a:r>
              <a:t>C:/Users/DELL/Documents/clouddrop/backend/tests/share-policy.test.ts</a:t>
            </a:r>
          </a:p>
          <a:p xmlns:a="http://schemas.openxmlformats.org/drawingml/2006/main">
            <a:r>
              <a:t>C:/Users/DELL/Documents/clouddrop/.github/workflows/ci.yml</a:t>
            </a:r>
          </a:p>
          <a:p xmlns:a="http://schemas.openxmlformats.org/drawingml/2006/main">
            <a:r>
              <a:t>C:/Users/DELL/Documents/clouddrop/.github/workflows/frontend.yml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45 seconds.</a:t>
            </a:r>
          </a:p>
          <a:p xmlns:a="http://schemas.openxmlformats.org/drawingml/2006/main">
            <a:r>
              <a:t/>
            </a:r>
          </a:p>
          <a:p xmlns:a="http://schemas.openxmlformats.org/drawingml/2006/main">
            <a:r>
              <a:t>Summarize the implemented outcomes and point to the dashboard. The public login page was reachable during preparation. Current source implements registration with email verification, login, owner-scoped file management, private S3 retrieval and token-backed temporary sharing. Current frontend preview is limited to PDF, JPEG, PNG, GIF and WebP, with a native PDF viewer requirement. The backend accepts additional inline preview types, but those are not enabled through the frontend gate. This real QA dashboard screenshot comes from the source frontend connected to the actual deployed API on 13 October, not a newly authenticated dashboard capture. The project QA report says the group reported a successful one-hour elapsed-expiry test, which was not independently repeated in that audit or for this deck. Repository policy tests cover expiration logic and invalid TTLs. Earlier QA also recorded release mismatches; do not claim all latest live workflows were rerun today.</a:t>
            </a:r>
          </a:p>
          <a:p xmlns:a="http://schemas.openxmlformats.org/drawingml/2006/main">
            <a:r>
              <a:t/>
            </a:r>
          </a:p>
          <a:p xmlns:a="http://schemas.openxmlformats.org/drawingml/2006/main">
            <a:r>
              <a:t>Sources:</a:t>
            </a:r>
          </a:p>
          <a:p xmlns:a="http://schemas.openxmlformats.org/drawingml/2006/main">
            <a:r>
              <a:t>C:/Users/DELL/Documents/clouddrop/frontend/docs/qa-evidence/source-dashboard.png</a:t>
            </a:r>
          </a:p>
          <a:p xmlns:a="http://schemas.openxmlformats.org/drawingml/2006/main">
            <a:r>
              <a:t>C:/Users/DELL/Documents/clouddrop/frontend/docs/final-qa-report.md</a:t>
            </a:r>
          </a:p>
          <a:p xmlns:a="http://schemas.openxmlformats.org/drawingml/2006/main">
            <a:r>
              <a:t>C:/Users/DELL/Documents/clouddrop/backend/tests/share-policy.test.ts</a:t>
            </a:r>
          </a:p>
          <a:p xmlns:a="http://schemas.openxmlformats.org/drawingml/2006/main">
            <a:r>
              <a:t>C:/Users/DELL/Documents/clouddrop/backend/src/lib/share-policy.ts</a:t>
            </a:r>
          </a:p>
          <a:p xmlns:a="http://schemas.openxmlformats.org/drawingml/2006/main">
            <a:r>
              <a:t>C:/Users/DELL/Documents/clouddrop/backend/src/controllers/files.controller.ts</a:t>
            </a:r>
          </a:p>
          <a:p xmlns:a="http://schemas.openxmlformats.org/drawingml/2006/main">
            <a:r>
              <a:t>C:/Users/DELL/Documents/clouddrop/frontend/src/features/files/model/file.types.ts</a:t>
            </a:r>
          </a:p>
          <a:p xmlns:a="http://schemas.openxmlformats.org/drawingml/2006/main">
            <a:r>
              <a:t>https://clouddrop-c8.duckdns.org/login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30 seconds.</a:t>
            </a:r>
          </a:p>
          <a:p xmlns:a="http://schemas.openxmlformats.org/drawingml/2006/main">
            <a:r>
              <a:t/>
            </a:r>
          </a:p>
          <a:p xmlns:a="http://schemas.openxmlformats.org/drawingml/2006/main">
            <a:r>
              <a:t>These are proposed enhancements, not delivered features. Basic filename search, category filtering and server pagination already exist. Future work would extend that into richer organization and search. Version history would add recovery beyond the current delete behavior. Monitoring and alerting would improve operational visibility, while performance testing would inform capacity decisions. Horizontal scaling and greater availability would require design work beyond the current single-EC2 container deployment. Additional collaboration features can build on the current temporary links.</a:t>
            </a:r>
          </a:p>
          <a:p xmlns:a="http://schemas.openxmlformats.org/drawingml/2006/main">
            <a:r>
              <a:t/>
            </a:r>
          </a:p>
          <a:p xmlns:a="http://schemas.openxmlformats.org/drawingml/2006/main">
            <a:r>
              <a:t>Sources:</a:t>
            </a:r>
          </a:p>
          <a:p xmlns:a="http://schemas.openxmlformats.org/drawingml/2006/main">
            <a:r>
              <a:t>C:/Users/DELL/Documents/clouddrop/frontend/src/pages/FilesPage.tsx</a:t>
            </a:r>
          </a:p>
          <a:p xmlns:a="http://schemas.openxmlformats.org/drawingml/2006/main">
            <a:r>
              <a:t>C:/Users/DELL/Documents/clouddrop/backend/src/services/file.service.ts</a:t>
            </a:r>
          </a:p>
          <a:p xmlns:a="http://schemas.openxmlformats.org/drawingml/2006/main">
            <a:r>
              <a:t>C:/Users/DELL/Documents/clouddrop/docker-compose.prod.yml</a:t>
            </a:r>
          </a:p>
          <a:p xmlns:a="http://schemas.openxmlformats.org/drawingml/2006/main">
            <a:r>
              <a:t>C:/Users/DELL/Documents/clouddrop/docs/REQUIREMENTS.md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45 seconds.</a:t>
            </a:r>
          </a:p>
          <a:p xmlns:a="http://schemas.openxmlformats.org/drawingml/2006/main">
            <a:r>
              <a:t/>
            </a:r>
          </a:p>
          <a:p xmlns:a="http://schemas.openxmlformats.org/drawingml/2006/main">
            <a:r>
              <a:t>Conclude that CloudDrop integrates AWS compute, object storage and a managed relational database with application security and deployment automation. The screenshots show real project UI: upload queue, deployed file details with download action, and a sharing dialog with the URL masked. The upload/share captures are from the source frontend connected to the live backend; the details capture is from the deployed frontend in the 13 October QA evidence. The filename encoding shown in that historical details capture was one of the documented issues addressed later in code. The login page is shown on slide 6 and dashboard on slide 9, avoiding repeating screenshots here. Thank the assessors and move to the live application. Suggested demonstration: sign in, upload a small image/PDF, preview it, download it, create a one-hour link and open it as a recipient. Expiry can be explained using prior test evidence rather than waiting an hour during the demo. Target 45 seconds for this closing slide, excluding the live demo.</a:t>
            </a:r>
          </a:p>
          <a:p xmlns:a="http://schemas.openxmlformats.org/drawingml/2006/main">
            <a:r>
              <a:t/>
            </a:r>
          </a:p>
          <a:p xmlns:a="http://schemas.openxmlformats.org/drawingml/2006/main">
            <a:r>
              <a:t>Sources:</a:t>
            </a:r>
          </a:p>
          <a:p xmlns:a="http://schemas.openxmlformats.org/drawingml/2006/main">
            <a:r>
              <a:t>C:/Users/DELL/Documents/clouddrop/frontend/docs/qa-evidence/source-upload-categories.png</a:t>
            </a:r>
          </a:p>
          <a:p xmlns:a="http://schemas.openxmlformats.org/drawingml/2006/main">
            <a:r>
              <a:t>C:/Users/DELL/Documents/clouddrop/frontend/docs/qa-evidence/production-unicode-file.png</a:t>
            </a:r>
          </a:p>
          <a:p xmlns:a="http://schemas.openxmlformats.org/drawingml/2006/main">
            <a:r>
              <a:t>C:/Users/DELL/Documents/clouddrop/frontend/docs/qa-evidence/source-share-masked.png</a:t>
            </a:r>
          </a:p>
          <a:p xmlns:a="http://schemas.openxmlformats.org/drawingml/2006/main">
            <a:r>
              <a:t>C:/Users/DELL/Documents/clouddrop/frontend/docs/final-qa-report.md</a:t>
            </a:r>
          </a:p>
          <a:p xmlns:a="http://schemas.openxmlformats.org/drawingml/2006/main">
            <a:r>
              <a:t>https://clouddrop-c8.duckdns.org</a:t>
            </a:r>
          </a:p>
          <a:p xmlns:a="http://schemas.openxmlformats.org/drawingml/2006/main">
            <a:r>
              <a:t>https://github.com/OmoniyiIfeAbraham/CLOUDDROP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f884e1682d4e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32dded7fa649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f0b3d69a1834ae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2468712a1941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780a94641c44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68722c48a749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4015A4-4BF1-407E-B24F-3D9501F96D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7B54DA2-328A-48B7-A5AC-1EA8FA80CD0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0CE919D-398E-4A8D-BCBC-F934589F4B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1CAE9B-A48D-4FE1-8BCE-ABD5E0D622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67E39C4-6FFA-4F52-88DB-F0427AC3F2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67A2E0E-6410-4C45-8E48-54471F81C1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0EB394-DEF2-4BB7-A622-37A8A01D8A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DE83C6A-7426-4690-8761-2B85C1E1B76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0653E6-3421-4B80-AE8B-6B6A0B10F9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99F5B10-49C9-48FC-946F-35B85E8857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07e8c2c88443c3" /><Relationship Type="http://schemas.openxmlformats.org/officeDocument/2006/relationships/slideLayout" Target="/ppt/slideLayouts/slideLayout1.xml" Id="R3a34d07f54074922" /><Relationship Type="http://schemas.openxmlformats.org/officeDocument/2006/relationships/slideLayout" Target="/ppt/slideLayouts/slideLayout2.xml" Id="R8c67841d25364336" /><Relationship Type="http://schemas.openxmlformats.org/officeDocument/2006/relationships/slideLayout" Target="/ppt/slideLayouts/slideLayout3.xml" Id="R34e3aa5dbbcb4524" /><Relationship Type="http://schemas.openxmlformats.org/officeDocument/2006/relationships/slideLayout" Target="/ppt/slideLayouts/slideLayout4.xml" Id="R7158e18452484f01" /><Relationship Type="http://schemas.openxmlformats.org/officeDocument/2006/relationships/slideLayout" Target="/ppt/slideLayouts/slideLayout5.xml" Id="Rcfa0e0862d4f439c" /><Relationship Type="http://schemas.openxmlformats.org/officeDocument/2006/relationships/slideLayout" Target="/ppt/slideLayouts/slideLayout6.xml" Id="Ra461994a85c34c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34d07f54074922"/>
    <p:sldLayoutId xmlns:r="http://schemas.openxmlformats.org/officeDocument/2006/relationships" id="2147483650" r:id="R8c67841d25364336"/>
    <p:sldLayoutId xmlns:r="http://schemas.openxmlformats.org/officeDocument/2006/relationships" id="2147483651" r:id="R34e3aa5dbbcb4524"/>
    <p:sldLayoutId xmlns:r="http://schemas.openxmlformats.org/officeDocument/2006/relationships" id="2147483652" r:id="R7158e18452484f01"/>
    <p:sldLayoutId xmlns:r="http://schemas.openxmlformats.org/officeDocument/2006/relationships" id="2147483653" r:id="Rcfa0e0862d4f439c"/>
    <p:sldLayoutId xmlns:r="http://schemas.openxmlformats.org/officeDocument/2006/relationships" id="2147483654" r:id="Ra461994a85c34c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5b83592f7ce4bd6" /><Relationship Type="http://schemas.openxmlformats.org/officeDocument/2006/relationships/hyperlink" Target="https://clouddrop-c8.duckdns.org" TargetMode="External" Id="R00652cd73ff14300" /><Relationship Type="http://schemas.openxmlformats.org/officeDocument/2006/relationships/hyperlink" Target="https://github.com/OmoniyiIfeAbraham/CLOUDDROP" TargetMode="External" Id="Rca7d338e19c54a0e" /><Relationship Type="http://schemas.openxmlformats.org/officeDocument/2006/relationships/notesSlide" Target="/ppt/notesSlides/notesSlide1.xml" Id="Re54d1005b67a44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d07b1a27dd4fef" /><Relationship Type="http://schemas.openxmlformats.org/officeDocument/2006/relationships/notesSlide" Target="/ppt/notesSlides/notesSlide2.xml" Id="Rcbd9a8a6463243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0f3828524f94e04" /><Relationship Type="http://schemas.openxmlformats.org/officeDocument/2006/relationships/image" Target="/ppt/media/image.png" Id="R8fb18eda7d6047dc" /><Relationship Type="http://schemas.openxmlformats.org/officeDocument/2006/relationships/notesSlide" Target="/ppt/notesSlides/notesSlide3.xml" Id="R5cf31944fc214d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c7c29870d8e46cb" /><Relationship Type="http://schemas.openxmlformats.org/officeDocument/2006/relationships/notesSlide" Target="/ppt/notesSlides/notesSlide4.xml" Id="Rb097e61576f446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3a9300196b4716" /><Relationship Type="http://schemas.openxmlformats.org/officeDocument/2006/relationships/notesSlide" Target="/ppt/notesSlides/notesSlide5.xml" Id="Rb1a23e85584d4a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b78fe5873a4ecd" /><Relationship Type="http://schemas.openxmlformats.org/officeDocument/2006/relationships/image" Target="/ppt/media/image2.png" Id="R7dc7f1f5e2524ac8" /><Relationship Type="http://schemas.openxmlformats.org/officeDocument/2006/relationships/notesSlide" Target="/ppt/notesSlides/notesSlide6.xml" Id="R93dfd5a458444c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9d8fee116b4d6f" /><Relationship Type="http://schemas.openxmlformats.org/officeDocument/2006/relationships/notesSlide" Target="/ppt/notesSlides/notesSlide7.xml" Id="R63816ef0a56149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2d77e677a864108" /><Relationship Type="http://schemas.openxmlformats.org/officeDocument/2006/relationships/notesSlide" Target="/ppt/notesSlides/notesSlide8.xml" Id="Rf02c3aface5f44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8272acb8a1a48a9" /><Relationship Type="http://schemas.openxmlformats.org/officeDocument/2006/relationships/image" Target="/ppt/media/image3.png" Id="R46704190a3cc43c9" /><Relationship Type="http://schemas.openxmlformats.org/officeDocument/2006/relationships/notesSlide" Target="/ppt/notesSlides/notesSlide9.xml" Id="R1b021873a94b46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6e1dc5de85d4466" /><Relationship Type="http://schemas.openxmlformats.org/officeDocument/2006/relationships/notesSlide" Target="/ppt/notesSlides/notesSlide10.xml" Id="R3bb668923f3849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f5e2c44b4f946d2" /><Relationship Type="http://schemas.openxmlformats.org/officeDocument/2006/relationships/image" Target="/ppt/media/image4.png" Id="Rf47fd3bb047642d7" /><Relationship Type="http://schemas.openxmlformats.org/officeDocument/2006/relationships/image" Target="/ppt/media/image5.png" Id="R3f3a30f1cebb4c34" /><Relationship Type="http://schemas.openxmlformats.org/officeDocument/2006/relationships/image" Target="/ppt/media/image6.png" Id="R43c77273393643e4" /><Relationship Type="http://schemas.openxmlformats.org/officeDocument/2006/relationships/hyperlink" Target="https://clouddrop-c8.duckdns.org" TargetMode="External" Id="R1ac3579b7c8a42ab" /><Relationship Type="http://schemas.openxmlformats.org/officeDocument/2006/relationships/hyperlink" Target="https://github.com/OmoniyiIfeAbraham/CLOUDDROP" TargetMode="External" Id="R52a910ba01784986" /><Relationship Type="http://schemas.openxmlformats.org/officeDocument/2006/relationships/notesSlide" Target="/ppt/notesSlides/notesSlide11.xml" Id="Rd692ec0cac26438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1">
            <a:extLst xmlns:a="http://schemas.openxmlformats.org/drawingml/2006/main">
              <a:ext uri="{FF2B5EF4-FFF2-40B4-BE49-F238E27FC236}">
                <a16:creationId xmlns:a16="http://schemas.microsoft.com/office/drawing/2014/main" id="{02F6713B-2BEE-409C-BFE7-974612A5A374}"/>
              </a:ext>
            </a:extLst>
          </p:cNvPr>
          <p:cNvSpPr>
            <a:spLocks xmlns:a="http://schemas.openxmlformats.org/drawingml/2006/main" noGrp="1"/>
          </p:cNvSpPr>
          <p:nvPr/>
        </p:nvSpPr>
        <p:spPr>
          <a:xfrm xmlns:a="http://schemas.openxmlformats.org/drawingml/2006/main">
            <a:off x="571500" y="514350"/>
            <a:ext cx="571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137C73"/>
                </a:solidFill>
                <a:latin typeface="Arial"/>
                <a:ea typeface="Arial"/>
                <a:cs typeface="Arial"/>
              </a:defRPr>
            </a:defPPr>
          </a:lstStyle>
          <a:p xmlns:a="http://schemas.openxmlformats.org/drawingml/2006/main">
            <a:pPr algn="l">
              <a:defRPr sz="5100" b="1">
                <a:solidFill>
                  <a:srgbClr val="137C73"/>
                </a:solidFill>
                <a:latin typeface="Arial"/>
                <a:ea typeface="Arial"/>
                <a:cs typeface="Arial"/>
              </a:defRPr>
            </a:pPr>
            <a:r>
              <a:rPr sz="5100" b="1">
                <a:solidFill>
                  <a:srgbClr val="137C73"/>
                </a:solidFill>
                <a:latin typeface="Arial"/>
                <a:ea typeface="Arial"/>
                <a:cs typeface="Arial"/>
              </a:rPr>
              <a:t>CloudDrop</a:t>
            </a:r>
          </a:p>
        </p:txBody>
      </p:sp>
      <p:sp>
        <p:nvSpPr>
          <p:cNvPr id="2" name="text-2">
            <a:extLst xmlns:a="http://schemas.openxmlformats.org/drawingml/2006/main">
              <a:ext uri="{FF2B5EF4-FFF2-40B4-BE49-F238E27FC236}">
                <a16:creationId xmlns:a16="http://schemas.microsoft.com/office/drawing/2014/main" id="{06875602-9E91-4189-ACE5-A6598311DC71}"/>
              </a:ext>
            </a:extLst>
          </p:cNvPr>
          <p:cNvSpPr>
            <a:spLocks xmlns:a="http://schemas.openxmlformats.org/drawingml/2006/main" noGrp="1"/>
          </p:cNvSpPr>
          <p:nvPr/>
        </p:nvSpPr>
        <p:spPr>
          <a:xfrm xmlns:a="http://schemas.openxmlformats.org/drawingml/2006/main">
            <a:off x="571500" y="146685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7332F"/>
                </a:solidFill>
                <a:latin typeface="Arial"/>
                <a:ea typeface="Arial"/>
                <a:cs typeface="Arial"/>
              </a:defRPr>
            </a:defPPr>
          </a:lstStyle>
          <a:p xmlns:a="http://schemas.openxmlformats.org/drawingml/2006/main">
            <a:pPr algn="l">
              <a:defRPr sz="2550" b="1">
                <a:solidFill>
                  <a:srgbClr val="17332F"/>
                </a:solidFill>
                <a:latin typeface="Arial"/>
                <a:ea typeface="Arial"/>
                <a:cs typeface="Arial"/>
              </a:defRPr>
            </a:pPr>
            <a:r>
              <a:rPr sz="2550" b="1">
                <a:solidFill>
                  <a:srgbClr val="17332F"/>
                </a:solidFill>
                <a:latin typeface="Arial"/>
                <a:ea typeface="Arial"/>
                <a:cs typeface="Arial"/>
              </a:rPr>
              <a:t>Secure Cloud-Based File Storage</a:t>
            </a:r>
          </a:p>
          <a:p xmlns:a="http://schemas.openxmlformats.org/drawingml/2006/main">
            <a:pPr algn="l">
              <a:defRPr sz="2550" b="1">
                <a:solidFill>
                  <a:srgbClr val="17332F"/>
                </a:solidFill>
                <a:latin typeface="Arial"/>
                <a:ea typeface="Arial"/>
                <a:cs typeface="Arial"/>
              </a:defRPr>
            </a:pPr>
            <a:r>
              <a:rPr sz="2550" b="1">
                <a:solidFill>
                  <a:srgbClr val="17332F"/>
                </a:solidFill>
                <a:latin typeface="Arial"/>
                <a:ea typeface="Arial"/>
                <a:cs typeface="Arial"/>
              </a:rPr>
              <a:t>and Sharing Using AWS</a:t>
            </a:r>
          </a:p>
        </p:txBody>
      </p:sp>
      <p:sp>
        <p:nvSpPr>
          <p:cNvPr id="3" name="text-3">
            <a:extLst xmlns:a="http://schemas.openxmlformats.org/drawingml/2006/main">
              <a:ext uri="{FF2B5EF4-FFF2-40B4-BE49-F238E27FC236}">
                <a16:creationId xmlns:a16="http://schemas.microsoft.com/office/drawing/2014/main" id="{CB33196E-D6E6-419A-AB08-B5AC6CBCAEF5}"/>
              </a:ext>
            </a:extLst>
          </p:cNvPr>
          <p:cNvSpPr>
            <a:spLocks xmlns:a="http://schemas.openxmlformats.org/drawingml/2006/main" noGrp="1"/>
          </p:cNvSpPr>
          <p:nvPr/>
        </p:nvSpPr>
        <p:spPr>
          <a:xfrm xmlns:a="http://schemas.openxmlformats.org/drawingml/2006/main">
            <a:off x="571500" y="271462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32F"/>
                </a:solidFill>
                <a:latin typeface="Arial"/>
                <a:ea typeface="Arial"/>
                <a:cs typeface="Arial"/>
              </a:defRPr>
            </a:defPPr>
          </a:lstStyle>
          <a:p xmlns:a="http://schemas.openxmlformats.org/drawingml/2006/main">
            <a:pPr algn="l">
              <a:defRPr sz="2025" b="0">
                <a:solidFill>
                  <a:srgbClr val="17332F"/>
                </a:solidFill>
                <a:latin typeface="Arial"/>
                <a:ea typeface="Arial"/>
                <a:cs typeface="Arial"/>
              </a:defRPr>
            </a:pPr>
            <a:r>
              <a:rPr sz="2025" b="0">
                <a:solidFill>
                  <a:srgbClr val="17332F"/>
                </a:solidFill>
                <a:latin typeface="Arial"/>
                <a:ea typeface="Arial"/>
                <a:cs typeface="Arial"/>
              </a:rPr>
              <a:t>Store, access, manage and share files securely through cloud infrastructure.</a:t>
            </a:r>
          </a:p>
        </p:txBody>
      </p:sp>
      <p:sp>
        <p:nvSpPr>
          <p:cNvPr id="4" name="text-4">
            <a:extLst xmlns:a="http://schemas.openxmlformats.org/drawingml/2006/main">
              <a:ext uri="{FF2B5EF4-FFF2-40B4-BE49-F238E27FC236}">
                <a16:creationId xmlns:a16="http://schemas.microsoft.com/office/drawing/2014/main" id="{EEB7359B-D93F-4396-83E8-9E0C9E5EAB52}"/>
              </a:ext>
            </a:extLst>
          </p:cNvPr>
          <p:cNvSpPr>
            <a:spLocks xmlns:a="http://schemas.openxmlformats.org/drawingml/2006/main" noGrp="1"/>
          </p:cNvSpPr>
          <p:nvPr/>
        </p:nvSpPr>
        <p:spPr>
          <a:xfrm xmlns:a="http://schemas.openxmlformats.org/drawingml/2006/main">
            <a:off x="571500" y="406717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32F"/>
                </a:solidFill>
                <a:latin typeface="Arial"/>
                <a:ea typeface="Arial"/>
                <a:cs typeface="Arial"/>
              </a:defRPr>
            </a:defPPr>
          </a:lstStyle>
          <a:p xmlns:a="http://schemas.openxmlformats.org/drawingml/2006/main">
            <a:pPr algn="l">
              <a:defRPr sz="1950" b="1">
                <a:solidFill>
                  <a:srgbClr val="17332F"/>
                </a:solidFill>
                <a:latin typeface="Arial"/>
                <a:ea typeface="Arial"/>
                <a:cs typeface="Arial"/>
              </a:defRPr>
            </a:pPr>
            <a:r>
              <a:rPr sz="1950" b="1">
                <a:solidFill>
                  <a:srgbClr val="17332F"/>
                </a:solidFill>
                <a:latin typeface="Arial"/>
                <a:ea typeface="Arial"/>
                <a:cs typeface="Arial"/>
              </a:rPr>
              <a:t>TechCrush Cohort 8, Group 3</a:t>
            </a:r>
          </a:p>
        </p:txBody>
      </p:sp>
      <p:sp>
        <p:nvSpPr>
          <p:cNvPr id="5" name="text-5">
            <a:extLst xmlns:a="http://schemas.openxmlformats.org/drawingml/2006/main">
              <a:ext uri="{FF2B5EF4-FFF2-40B4-BE49-F238E27FC236}">
                <a16:creationId xmlns:a16="http://schemas.microsoft.com/office/drawing/2014/main" id="{8440A89D-6418-4F14-ACC1-10394FEC6578}"/>
              </a:ext>
            </a:extLst>
          </p:cNvPr>
          <p:cNvSpPr>
            <a:spLocks xmlns:a="http://schemas.openxmlformats.org/drawingml/2006/main" noGrp="1"/>
          </p:cNvSpPr>
          <p:nvPr/>
        </p:nvSpPr>
        <p:spPr>
          <a:xfrm xmlns:a="http://schemas.openxmlformats.org/drawingml/2006/main">
            <a:off x="571500" y="444817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561"/>
                </a:solidFill>
                <a:latin typeface="Arial"/>
                <a:ea typeface="Arial"/>
                <a:cs typeface="Arial"/>
              </a:defRPr>
            </a:defPPr>
          </a:lstStyle>
          <a:p xmlns:a="http://schemas.openxmlformats.org/drawingml/2006/main">
            <a:pPr algn="l">
              <a:defRPr sz="1575" b="0">
                <a:solidFill>
                  <a:srgbClr val="526561"/>
                </a:solidFill>
                <a:latin typeface="Arial"/>
                <a:ea typeface="Arial"/>
                <a:cs typeface="Arial"/>
              </a:defRPr>
            </a:pPr>
            <a:r>
              <a:rPr sz="1575" b="0">
                <a:solidFill>
                  <a:srgbClr val="526561"/>
                </a:solidFill>
                <a:latin typeface="Arial"/>
                <a:ea typeface="Arial"/>
                <a:cs typeface="Arial"/>
              </a:rPr>
              <a:t>Capstone Presentation</a:t>
            </a:r>
          </a:p>
        </p:txBody>
      </p:sp>
      <p:sp>
        <p:nvSpPr>
          <p:cNvPr id="6" name="text-6">
            <a:extLst xmlns:a="http://schemas.openxmlformats.org/drawingml/2006/main">
              <a:ext uri="{FF2B5EF4-FFF2-40B4-BE49-F238E27FC236}">
                <a16:creationId xmlns:a16="http://schemas.microsoft.com/office/drawing/2014/main" id="{20C64404-B8C8-4E17-B305-3A88FFBC45C9}"/>
              </a:ext>
            </a:extLst>
          </p:cNvPr>
          <p:cNvSpPr>
            <a:spLocks xmlns:a="http://schemas.openxmlformats.org/drawingml/2006/main" noGrp="1"/>
          </p:cNvSpPr>
          <p:nvPr/>
        </p:nvSpPr>
        <p:spPr>
          <a:xfrm xmlns:a="http://schemas.openxmlformats.org/drawingml/2006/main">
            <a:off x="6858000" y="6096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7C73"/>
                </a:solidFill>
                <a:latin typeface="Arial"/>
                <a:ea typeface="Arial"/>
                <a:cs typeface="Arial"/>
              </a:defRPr>
            </a:defPPr>
          </a:lstStyle>
          <a:p xmlns:a="http://schemas.openxmlformats.org/drawingml/2006/main">
            <a:pPr algn="l">
              <a:defRPr sz="2100" b="1">
                <a:solidFill>
                  <a:srgbClr val="137C73"/>
                </a:solidFill>
                <a:latin typeface="Arial"/>
                <a:ea typeface="Arial"/>
                <a:cs typeface="Arial"/>
              </a:defRPr>
            </a:pPr>
            <a:r>
              <a:rPr sz="2100" b="1">
                <a:solidFill>
                  <a:srgbClr val="137C73"/>
                </a:solidFill>
                <a:latin typeface="Arial"/>
                <a:ea typeface="Arial"/>
                <a:cs typeface="Arial"/>
              </a:rPr>
              <a:t>Our Team</a:t>
            </a:r>
          </a:p>
        </p:txBody>
      </p:sp>
      <p:sp>
        <p:nvSpPr>
          <p:cNvPr id="7" name="text-7">
            <a:extLst xmlns:a="http://schemas.openxmlformats.org/drawingml/2006/main">
              <a:ext uri="{FF2B5EF4-FFF2-40B4-BE49-F238E27FC236}">
                <a16:creationId xmlns:a16="http://schemas.microsoft.com/office/drawing/2014/main" id="{E12EF54B-1529-4445-B2AB-0B28F92F777B}"/>
              </a:ext>
            </a:extLst>
          </p:cNvPr>
          <p:cNvSpPr>
            <a:spLocks xmlns:a="http://schemas.openxmlformats.org/drawingml/2006/main" noGrp="1"/>
          </p:cNvSpPr>
          <p:nvPr/>
        </p:nvSpPr>
        <p:spPr>
          <a:xfrm xmlns:a="http://schemas.openxmlformats.org/drawingml/2006/main">
            <a:off x="6858000" y="1200150"/>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7332F"/>
                </a:solidFill>
                <a:latin typeface="Arial"/>
                <a:ea typeface="Arial"/>
                <a:cs typeface="Arial"/>
              </a:defRPr>
            </a:defPPr>
          </a:lstStyle>
          <a:p xmlns:a="http://schemas.openxmlformats.org/drawingml/2006/main">
            <a:pPr algn="l">
              <a:defRPr sz="1725" b="1">
                <a:solidFill>
                  <a:srgbClr val="17332F"/>
                </a:solidFill>
                <a:latin typeface="Arial"/>
                <a:ea typeface="Arial"/>
                <a:cs typeface="Arial"/>
              </a:defRPr>
            </a:pPr>
            <a:r>
              <a:rPr sz="1725" b="1">
                <a:solidFill>
                  <a:srgbClr val="17332F"/>
                </a:solidFill>
                <a:latin typeface="Arial"/>
                <a:ea typeface="Arial"/>
                <a:cs typeface="Arial"/>
              </a:rPr>
              <a:t>Samuel Ayodele Olukayode</a:t>
            </a:r>
          </a:p>
        </p:txBody>
      </p:sp>
      <p:sp>
        <p:nvSpPr>
          <p:cNvPr id="8" name="text-8">
            <a:extLst xmlns:a="http://schemas.openxmlformats.org/drawingml/2006/main">
              <a:ext uri="{FF2B5EF4-FFF2-40B4-BE49-F238E27FC236}">
                <a16:creationId xmlns:a16="http://schemas.microsoft.com/office/drawing/2014/main" id="{AC2C622F-B7A4-4C1D-BD35-BCCAA45FB20F}"/>
              </a:ext>
            </a:extLst>
          </p:cNvPr>
          <p:cNvSpPr>
            <a:spLocks xmlns:a="http://schemas.openxmlformats.org/drawingml/2006/main" noGrp="1"/>
          </p:cNvSpPr>
          <p:nvPr/>
        </p:nvSpPr>
        <p:spPr>
          <a:xfrm xmlns:a="http://schemas.openxmlformats.org/drawingml/2006/main">
            <a:off x="6858000" y="1504950"/>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61"/>
                </a:solidFill>
                <a:latin typeface="Arial"/>
                <a:ea typeface="Arial"/>
                <a:cs typeface="Arial"/>
              </a:defRPr>
            </a:defPPr>
          </a:lstStyle>
          <a:p xmlns:a="http://schemas.openxmlformats.org/drawingml/2006/main">
            <a:pPr algn="l">
              <a:defRPr sz="1350" b="0">
                <a:solidFill>
                  <a:srgbClr val="526561"/>
                </a:solidFill>
                <a:latin typeface="Arial"/>
                <a:ea typeface="Arial"/>
                <a:cs typeface="Arial"/>
              </a:defRPr>
            </a:pPr>
            <a:r>
              <a:rPr sz="1350" b="0">
                <a:solidFill>
                  <a:srgbClr val="526561"/>
                </a:solidFill>
                <a:latin typeface="Arial"/>
                <a:ea typeface="Arial"/>
                <a:cs typeface="Arial"/>
              </a:rPr>
              <a:t>CLC/2026/TC-8/0151</a:t>
            </a:r>
          </a:p>
        </p:txBody>
      </p:sp>
      <p:sp>
        <p:nvSpPr>
          <p:cNvPr id="9" name="text-9">
            <a:extLst xmlns:a="http://schemas.openxmlformats.org/drawingml/2006/main">
              <a:ext uri="{FF2B5EF4-FFF2-40B4-BE49-F238E27FC236}">
                <a16:creationId xmlns:a16="http://schemas.microsoft.com/office/drawing/2014/main" id="{EB28C4AA-D0D7-4169-B598-509CCD0BDABA}"/>
              </a:ext>
            </a:extLst>
          </p:cNvPr>
          <p:cNvSpPr>
            <a:spLocks xmlns:a="http://schemas.openxmlformats.org/drawingml/2006/main" noGrp="1"/>
          </p:cNvSpPr>
          <p:nvPr/>
        </p:nvSpPr>
        <p:spPr>
          <a:xfrm xmlns:a="http://schemas.openxmlformats.org/drawingml/2006/main">
            <a:off x="6858000" y="1885950"/>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7332F"/>
                </a:solidFill>
                <a:latin typeface="Arial"/>
                <a:ea typeface="Arial"/>
                <a:cs typeface="Arial"/>
              </a:defRPr>
            </a:defPPr>
          </a:lstStyle>
          <a:p xmlns:a="http://schemas.openxmlformats.org/drawingml/2006/main">
            <a:pPr algn="l">
              <a:defRPr sz="1725" b="1">
                <a:solidFill>
                  <a:srgbClr val="17332F"/>
                </a:solidFill>
                <a:latin typeface="Arial"/>
                <a:ea typeface="Arial"/>
                <a:cs typeface="Arial"/>
              </a:defRPr>
            </a:pPr>
            <a:r>
              <a:rPr sz="1725" b="1">
                <a:solidFill>
                  <a:srgbClr val="17332F"/>
                </a:solidFill>
                <a:latin typeface="Arial"/>
                <a:ea typeface="Arial"/>
                <a:cs typeface="Arial"/>
              </a:rPr>
              <a:t>Adewuyi Eunice Aduramigba</a:t>
            </a:r>
          </a:p>
        </p:txBody>
      </p:sp>
      <p:sp>
        <p:nvSpPr>
          <p:cNvPr id="10" name="text-10">
            <a:extLst xmlns:a="http://schemas.openxmlformats.org/drawingml/2006/main">
              <a:ext uri="{FF2B5EF4-FFF2-40B4-BE49-F238E27FC236}">
                <a16:creationId xmlns:a16="http://schemas.microsoft.com/office/drawing/2014/main" id="{2AFA97E4-F742-45F0-B23C-D10DFF65E9A3}"/>
              </a:ext>
            </a:extLst>
          </p:cNvPr>
          <p:cNvSpPr>
            <a:spLocks xmlns:a="http://schemas.openxmlformats.org/drawingml/2006/main" noGrp="1"/>
          </p:cNvSpPr>
          <p:nvPr/>
        </p:nvSpPr>
        <p:spPr>
          <a:xfrm xmlns:a="http://schemas.openxmlformats.org/drawingml/2006/main">
            <a:off x="6858000" y="2190750"/>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61"/>
                </a:solidFill>
                <a:latin typeface="Arial"/>
                <a:ea typeface="Arial"/>
                <a:cs typeface="Arial"/>
              </a:defRPr>
            </a:defPPr>
          </a:lstStyle>
          <a:p xmlns:a="http://schemas.openxmlformats.org/drawingml/2006/main">
            <a:pPr algn="l">
              <a:defRPr sz="1350" b="0">
                <a:solidFill>
                  <a:srgbClr val="526561"/>
                </a:solidFill>
                <a:latin typeface="Arial"/>
                <a:ea typeface="Arial"/>
                <a:cs typeface="Arial"/>
              </a:defRPr>
            </a:pPr>
            <a:r>
              <a:rPr sz="1350" b="0">
                <a:solidFill>
                  <a:srgbClr val="526561"/>
                </a:solidFill>
                <a:latin typeface="Arial"/>
                <a:ea typeface="Arial"/>
                <a:cs typeface="Arial"/>
              </a:rPr>
              <a:t>CLC/2026/TC-8/0187</a:t>
            </a:r>
          </a:p>
        </p:txBody>
      </p:sp>
      <p:sp>
        <p:nvSpPr>
          <p:cNvPr id="11" name="text-11">
            <a:extLst xmlns:a="http://schemas.openxmlformats.org/drawingml/2006/main">
              <a:ext uri="{FF2B5EF4-FFF2-40B4-BE49-F238E27FC236}">
                <a16:creationId xmlns:a16="http://schemas.microsoft.com/office/drawing/2014/main" id="{3DAB52A5-9438-4B89-93CF-4F311E54F2C6}"/>
              </a:ext>
            </a:extLst>
          </p:cNvPr>
          <p:cNvSpPr>
            <a:spLocks xmlns:a="http://schemas.openxmlformats.org/drawingml/2006/main" noGrp="1"/>
          </p:cNvSpPr>
          <p:nvPr/>
        </p:nvSpPr>
        <p:spPr>
          <a:xfrm xmlns:a="http://schemas.openxmlformats.org/drawingml/2006/main">
            <a:off x="6858000" y="2571750"/>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7332F"/>
                </a:solidFill>
                <a:latin typeface="Arial"/>
                <a:ea typeface="Arial"/>
                <a:cs typeface="Arial"/>
              </a:defRPr>
            </a:defPPr>
          </a:lstStyle>
          <a:p xmlns:a="http://schemas.openxmlformats.org/drawingml/2006/main">
            <a:pPr algn="l">
              <a:defRPr sz="1725" b="1">
                <a:solidFill>
                  <a:srgbClr val="17332F"/>
                </a:solidFill>
                <a:latin typeface="Arial"/>
                <a:ea typeface="Arial"/>
                <a:cs typeface="Arial"/>
              </a:defRPr>
            </a:pPr>
            <a:r>
              <a:rPr sz="1725" b="1">
                <a:solidFill>
                  <a:srgbClr val="17332F"/>
                </a:solidFill>
                <a:latin typeface="Arial"/>
                <a:ea typeface="Arial"/>
                <a:cs typeface="Arial"/>
              </a:rPr>
              <a:t>Oladayo Temitope Lawal</a:t>
            </a:r>
          </a:p>
        </p:txBody>
      </p:sp>
      <p:sp>
        <p:nvSpPr>
          <p:cNvPr id="12" name="text-12">
            <a:extLst xmlns:a="http://schemas.openxmlformats.org/drawingml/2006/main">
              <a:ext uri="{FF2B5EF4-FFF2-40B4-BE49-F238E27FC236}">
                <a16:creationId xmlns:a16="http://schemas.microsoft.com/office/drawing/2014/main" id="{7315B634-CFCD-47D7-9B9D-49A332BE2CBA}"/>
              </a:ext>
            </a:extLst>
          </p:cNvPr>
          <p:cNvSpPr>
            <a:spLocks xmlns:a="http://schemas.openxmlformats.org/drawingml/2006/main" noGrp="1"/>
          </p:cNvSpPr>
          <p:nvPr/>
        </p:nvSpPr>
        <p:spPr>
          <a:xfrm xmlns:a="http://schemas.openxmlformats.org/drawingml/2006/main">
            <a:off x="6858000" y="2876550"/>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61"/>
                </a:solidFill>
                <a:latin typeface="Arial"/>
                <a:ea typeface="Arial"/>
                <a:cs typeface="Arial"/>
              </a:defRPr>
            </a:defPPr>
          </a:lstStyle>
          <a:p xmlns:a="http://schemas.openxmlformats.org/drawingml/2006/main">
            <a:pPr algn="l">
              <a:defRPr sz="1350" b="0">
                <a:solidFill>
                  <a:srgbClr val="526561"/>
                </a:solidFill>
                <a:latin typeface="Arial"/>
                <a:ea typeface="Arial"/>
                <a:cs typeface="Arial"/>
              </a:defRPr>
            </a:pPr>
            <a:r>
              <a:rPr sz="1350" b="0">
                <a:solidFill>
                  <a:srgbClr val="526561"/>
                </a:solidFill>
                <a:latin typeface="Arial"/>
                <a:ea typeface="Arial"/>
                <a:cs typeface="Arial"/>
              </a:rPr>
              <a:t>CLC/2026/TC-8/0181</a:t>
            </a:r>
          </a:p>
        </p:txBody>
      </p:sp>
      <p:sp>
        <p:nvSpPr>
          <p:cNvPr id="13" name="text-13">
            <a:extLst xmlns:a="http://schemas.openxmlformats.org/drawingml/2006/main">
              <a:ext uri="{FF2B5EF4-FFF2-40B4-BE49-F238E27FC236}">
                <a16:creationId xmlns:a16="http://schemas.microsoft.com/office/drawing/2014/main" id="{BB7B975D-517F-44ED-BFAF-4387FC390776}"/>
              </a:ext>
            </a:extLst>
          </p:cNvPr>
          <p:cNvSpPr>
            <a:spLocks xmlns:a="http://schemas.openxmlformats.org/drawingml/2006/main" noGrp="1"/>
          </p:cNvSpPr>
          <p:nvPr/>
        </p:nvSpPr>
        <p:spPr>
          <a:xfrm xmlns:a="http://schemas.openxmlformats.org/drawingml/2006/main">
            <a:off x="6858000" y="3257550"/>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7332F"/>
                </a:solidFill>
                <a:latin typeface="Arial"/>
                <a:ea typeface="Arial"/>
                <a:cs typeface="Arial"/>
              </a:defRPr>
            </a:defPPr>
          </a:lstStyle>
          <a:p xmlns:a="http://schemas.openxmlformats.org/drawingml/2006/main">
            <a:pPr algn="l">
              <a:defRPr sz="1725" b="1">
                <a:solidFill>
                  <a:srgbClr val="17332F"/>
                </a:solidFill>
                <a:latin typeface="Arial"/>
                <a:ea typeface="Arial"/>
                <a:cs typeface="Arial"/>
              </a:defRPr>
            </a:pPr>
            <a:r>
              <a:rPr sz="1725" b="1">
                <a:solidFill>
                  <a:srgbClr val="17332F"/>
                </a:solidFill>
                <a:latin typeface="Arial"/>
                <a:ea typeface="Arial"/>
                <a:cs typeface="Arial"/>
              </a:rPr>
              <a:t>Jeremiah Bioseh</a:t>
            </a:r>
          </a:p>
        </p:txBody>
      </p:sp>
      <p:sp>
        <p:nvSpPr>
          <p:cNvPr id="14" name="text-14">
            <a:extLst xmlns:a="http://schemas.openxmlformats.org/drawingml/2006/main">
              <a:ext uri="{FF2B5EF4-FFF2-40B4-BE49-F238E27FC236}">
                <a16:creationId xmlns:a16="http://schemas.microsoft.com/office/drawing/2014/main" id="{F436DBC0-A8E8-46A1-ACE8-6038FB3CC169}"/>
              </a:ext>
            </a:extLst>
          </p:cNvPr>
          <p:cNvSpPr>
            <a:spLocks xmlns:a="http://schemas.openxmlformats.org/drawingml/2006/main" noGrp="1"/>
          </p:cNvSpPr>
          <p:nvPr/>
        </p:nvSpPr>
        <p:spPr>
          <a:xfrm xmlns:a="http://schemas.openxmlformats.org/drawingml/2006/main">
            <a:off x="6858000" y="3562350"/>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61"/>
                </a:solidFill>
                <a:latin typeface="Arial"/>
                <a:ea typeface="Arial"/>
                <a:cs typeface="Arial"/>
              </a:defRPr>
            </a:defPPr>
          </a:lstStyle>
          <a:p xmlns:a="http://schemas.openxmlformats.org/drawingml/2006/main">
            <a:pPr algn="l">
              <a:defRPr sz="1350" b="0">
                <a:solidFill>
                  <a:srgbClr val="526561"/>
                </a:solidFill>
                <a:latin typeface="Arial"/>
                <a:ea typeface="Arial"/>
                <a:cs typeface="Arial"/>
              </a:defRPr>
            </a:pPr>
            <a:r>
              <a:rPr sz="1350" b="0">
                <a:solidFill>
                  <a:srgbClr val="526561"/>
                </a:solidFill>
                <a:latin typeface="Arial"/>
                <a:ea typeface="Arial"/>
                <a:cs typeface="Arial"/>
              </a:rPr>
              <a:t>CLC/2026/TC-8/0179</a:t>
            </a:r>
          </a:p>
        </p:txBody>
      </p:sp>
      <p:sp>
        <p:nvSpPr>
          <p:cNvPr id="15" name="text-15">
            <a:extLst xmlns:a="http://schemas.openxmlformats.org/drawingml/2006/main">
              <a:ext uri="{FF2B5EF4-FFF2-40B4-BE49-F238E27FC236}">
                <a16:creationId xmlns:a16="http://schemas.microsoft.com/office/drawing/2014/main" id="{7BDF4B00-5A7A-4A7A-8046-B10A1F74C8C0}"/>
              </a:ext>
            </a:extLst>
          </p:cNvPr>
          <p:cNvSpPr>
            <a:spLocks xmlns:a="http://schemas.openxmlformats.org/drawingml/2006/main" noGrp="1"/>
          </p:cNvSpPr>
          <p:nvPr/>
        </p:nvSpPr>
        <p:spPr>
          <a:xfrm xmlns:a="http://schemas.openxmlformats.org/drawingml/2006/main">
            <a:off x="6858000" y="3943350"/>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7332F"/>
                </a:solidFill>
                <a:latin typeface="Arial"/>
                <a:ea typeface="Arial"/>
                <a:cs typeface="Arial"/>
              </a:defRPr>
            </a:defPPr>
          </a:lstStyle>
          <a:p xmlns:a="http://schemas.openxmlformats.org/drawingml/2006/main">
            <a:pPr algn="l">
              <a:defRPr sz="1725" b="1">
                <a:solidFill>
                  <a:srgbClr val="17332F"/>
                </a:solidFill>
                <a:latin typeface="Arial"/>
                <a:ea typeface="Arial"/>
                <a:cs typeface="Arial"/>
              </a:defRPr>
            </a:pPr>
            <a:r>
              <a:rPr sz="1725" b="1">
                <a:solidFill>
                  <a:srgbClr val="17332F"/>
                </a:solidFill>
                <a:latin typeface="Arial"/>
                <a:ea typeface="Arial"/>
                <a:cs typeface="Arial"/>
              </a:rPr>
              <a:t>Kizito Nnamdi Ugwu</a:t>
            </a:r>
          </a:p>
        </p:txBody>
      </p:sp>
      <p:sp>
        <p:nvSpPr>
          <p:cNvPr id="16" name="text-16">
            <a:extLst xmlns:a="http://schemas.openxmlformats.org/drawingml/2006/main">
              <a:ext uri="{FF2B5EF4-FFF2-40B4-BE49-F238E27FC236}">
                <a16:creationId xmlns:a16="http://schemas.microsoft.com/office/drawing/2014/main" id="{CA187842-397D-48F6-8524-E7414B87FFAB}"/>
              </a:ext>
            </a:extLst>
          </p:cNvPr>
          <p:cNvSpPr>
            <a:spLocks xmlns:a="http://schemas.openxmlformats.org/drawingml/2006/main" noGrp="1"/>
          </p:cNvSpPr>
          <p:nvPr/>
        </p:nvSpPr>
        <p:spPr>
          <a:xfrm xmlns:a="http://schemas.openxmlformats.org/drawingml/2006/main">
            <a:off x="6858000" y="4248150"/>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61"/>
                </a:solidFill>
                <a:latin typeface="Arial"/>
                <a:ea typeface="Arial"/>
                <a:cs typeface="Arial"/>
              </a:defRPr>
            </a:defPPr>
          </a:lstStyle>
          <a:p xmlns:a="http://schemas.openxmlformats.org/drawingml/2006/main">
            <a:pPr algn="l">
              <a:defRPr sz="1350" b="0">
                <a:solidFill>
                  <a:srgbClr val="526561"/>
                </a:solidFill>
                <a:latin typeface="Arial"/>
                <a:ea typeface="Arial"/>
                <a:cs typeface="Arial"/>
              </a:defRPr>
            </a:pPr>
            <a:r>
              <a:rPr sz="1350" b="0">
                <a:solidFill>
                  <a:srgbClr val="526561"/>
                </a:solidFill>
                <a:latin typeface="Arial"/>
                <a:ea typeface="Arial"/>
                <a:cs typeface="Arial"/>
              </a:rPr>
              <a:t>CLC/2026/TC-8/0234</a:t>
            </a:r>
          </a:p>
        </p:txBody>
      </p:sp>
      <p:sp>
        <p:nvSpPr>
          <p:cNvPr id="17" name="text-17">
            <a:extLst xmlns:a="http://schemas.openxmlformats.org/drawingml/2006/main">
              <a:ext uri="{FF2B5EF4-FFF2-40B4-BE49-F238E27FC236}">
                <a16:creationId xmlns:a16="http://schemas.microsoft.com/office/drawing/2014/main" id="{B2E5A489-22B6-4E07-9A49-12D88B74F951}"/>
              </a:ext>
            </a:extLst>
          </p:cNvPr>
          <p:cNvSpPr>
            <a:spLocks xmlns:a="http://schemas.openxmlformats.org/drawingml/2006/main" noGrp="1"/>
          </p:cNvSpPr>
          <p:nvPr/>
        </p:nvSpPr>
        <p:spPr>
          <a:xfrm xmlns:a="http://schemas.openxmlformats.org/drawingml/2006/main">
            <a:off x="6858000" y="4629150"/>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7332F"/>
                </a:solidFill>
                <a:latin typeface="Arial"/>
                <a:ea typeface="Arial"/>
                <a:cs typeface="Arial"/>
              </a:defRPr>
            </a:defPPr>
          </a:lstStyle>
          <a:p xmlns:a="http://schemas.openxmlformats.org/drawingml/2006/main">
            <a:pPr algn="l">
              <a:defRPr sz="1725" b="1">
                <a:solidFill>
                  <a:srgbClr val="17332F"/>
                </a:solidFill>
                <a:latin typeface="Arial"/>
                <a:ea typeface="Arial"/>
                <a:cs typeface="Arial"/>
              </a:defRPr>
            </a:pPr>
            <a:r>
              <a:rPr sz="1725" b="1">
                <a:solidFill>
                  <a:srgbClr val="17332F"/>
                </a:solidFill>
                <a:latin typeface="Arial"/>
                <a:ea typeface="Arial"/>
                <a:cs typeface="Arial"/>
              </a:rPr>
              <a:t>Ife Abraham Omoniyi (Team Lead)</a:t>
            </a:r>
          </a:p>
        </p:txBody>
      </p:sp>
      <p:sp>
        <p:nvSpPr>
          <p:cNvPr id="18" name="text-18">
            <a:extLst xmlns:a="http://schemas.openxmlformats.org/drawingml/2006/main">
              <a:ext uri="{FF2B5EF4-FFF2-40B4-BE49-F238E27FC236}">
                <a16:creationId xmlns:a16="http://schemas.microsoft.com/office/drawing/2014/main" id="{8F9E4E06-B8AB-4576-B96A-693D328995D3}"/>
              </a:ext>
            </a:extLst>
          </p:cNvPr>
          <p:cNvSpPr>
            <a:spLocks xmlns:a="http://schemas.openxmlformats.org/drawingml/2006/main" noGrp="1"/>
          </p:cNvSpPr>
          <p:nvPr/>
        </p:nvSpPr>
        <p:spPr>
          <a:xfrm xmlns:a="http://schemas.openxmlformats.org/drawingml/2006/main">
            <a:off x="6858000" y="4933950"/>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61"/>
                </a:solidFill>
                <a:latin typeface="Arial"/>
                <a:ea typeface="Arial"/>
                <a:cs typeface="Arial"/>
              </a:defRPr>
            </a:defPPr>
          </a:lstStyle>
          <a:p xmlns:a="http://schemas.openxmlformats.org/drawingml/2006/main">
            <a:pPr algn="l">
              <a:defRPr sz="1350" b="0">
                <a:solidFill>
                  <a:srgbClr val="526561"/>
                </a:solidFill>
                <a:latin typeface="Arial"/>
                <a:ea typeface="Arial"/>
                <a:cs typeface="Arial"/>
              </a:defRPr>
            </a:pPr>
            <a:r>
              <a:rPr sz="1350" b="0">
                <a:solidFill>
                  <a:srgbClr val="526561"/>
                </a:solidFill>
                <a:latin typeface="Arial"/>
                <a:ea typeface="Arial"/>
                <a:cs typeface="Arial"/>
              </a:rPr>
              <a:t>CLC/2026/TC-8/0008</a:t>
            </a:r>
          </a:p>
        </p:txBody>
      </p:sp>
      <p:sp>
        <p:nvSpPr>
          <p:cNvPr id="19" name="">
            <a:extLst xmlns:a="http://schemas.openxmlformats.org/drawingml/2006/main">
              <a:ext uri="{FF2B5EF4-FFF2-40B4-BE49-F238E27FC236}">
                <a16:creationId xmlns:a16="http://schemas.microsoft.com/office/drawing/2014/main" id="{95D1786A-797E-4441-A79E-BD174124E797}"/>
              </a:ext>
            </a:extLst>
          </p:cNvPr>
          <p:cNvSpPr>
            <a:spLocks xmlns:a="http://schemas.openxmlformats.org/drawingml/2006/main" noGrp="1"/>
          </p:cNvSpPr>
          <p:nvPr/>
        </p:nvSpPr>
        <p:spPr>
          <a:xfrm xmlns:a="http://schemas.openxmlformats.org/drawingml/2006/main">
            <a:off x="571500" y="5629275"/>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20" name="text-19">
            <a:extLst xmlns:a="http://schemas.openxmlformats.org/drawingml/2006/main">
              <a:ext uri="{FF2B5EF4-FFF2-40B4-BE49-F238E27FC236}">
                <a16:creationId xmlns:a16="http://schemas.microsoft.com/office/drawing/2014/main" id="{9E5BCCA9-1156-416F-B30B-1A318891E3EC}"/>
              </a:ext>
            </a:extLst>
          </p:cNvPr>
          <p:cNvSpPr>
            <a:spLocks xmlns:a="http://schemas.openxmlformats.org/drawingml/2006/main" noGrp="1"/>
          </p:cNvSpPr>
          <p:nvPr/>
        </p:nvSpPr>
        <p:spPr>
          <a:xfrm xmlns:a="http://schemas.openxmlformats.org/drawingml/2006/main">
            <a:off x="571500" y="585787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37C73"/>
                </a:solidFill>
                <a:latin typeface="Arial"/>
                <a:ea typeface="Arial"/>
                <a:cs typeface="Arial"/>
              </a:defRPr>
            </a:defPPr>
          </a:lstStyle>
          <a:p xmlns:a="http://schemas.openxmlformats.org/drawingml/2006/main">
            <a:pPr algn="l">
              <a:defRPr sz="1425" b="0">
                <a:solidFill>
                  <a:srgbClr val="137C73"/>
                </a:solidFill>
                <a:latin typeface="Arial"/>
                <a:ea typeface="Arial"/>
                <a:cs typeface="Arial"/>
              </a:defRPr>
            </a:pPr>
            <a:r>
              <a:rPr sz="1425" b="0">
                <a:solidFill>
                  <a:srgbClr val="137C73"/>
                </a:solidFill>
                <a:latin typeface="Arial"/>
                <a:ea typeface="Arial"/>
                <a:cs typeface="Arial"/>
                <a:hlinkClick xmlns:r="http://schemas.openxmlformats.org/officeDocument/2006/relationships" r:id="R00652cd73ff14300"/>
              </a:rPr>
              <a:t>Live: https://clouddrop-c8.duckdns.org</a:t>
            </a:r>
          </a:p>
        </p:txBody>
      </p:sp>
      <p:sp>
        <p:nvSpPr>
          <p:cNvPr id="21" name="text-20">
            <a:extLst xmlns:a="http://schemas.openxmlformats.org/drawingml/2006/main">
              <a:ext uri="{FF2B5EF4-FFF2-40B4-BE49-F238E27FC236}">
                <a16:creationId xmlns:a16="http://schemas.microsoft.com/office/drawing/2014/main" id="{A5B22A67-C3EC-4140-BEF7-81EDF76C1F0B}"/>
              </a:ext>
            </a:extLst>
          </p:cNvPr>
          <p:cNvSpPr>
            <a:spLocks xmlns:a="http://schemas.openxmlformats.org/drawingml/2006/main" noGrp="1"/>
          </p:cNvSpPr>
          <p:nvPr/>
        </p:nvSpPr>
        <p:spPr>
          <a:xfrm xmlns:a="http://schemas.openxmlformats.org/drawingml/2006/main">
            <a:off x="571500" y="620077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37C73"/>
                </a:solidFill>
                <a:latin typeface="Arial"/>
                <a:ea typeface="Arial"/>
                <a:cs typeface="Arial"/>
              </a:defRPr>
            </a:defPPr>
          </a:lstStyle>
          <a:p xmlns:a="http://schemas.openxmlformats.org/drawingml/2006/main">
            <a:pPr algn="l">
              <a:defRPr sz="1425" b="0">
                <a:solidFill>
                  <a:srgbClr val="137C73"/>
                </a:solidFill>
                <a:latin typeface="Arial"/>
                <a:ea typeface="Arial"/>
                <a:cs typeface="Arial"/>
              </a:defRPr>
            </a:pPr>
            <a:r>
              <a:rPr sz="1425" b="0">
                <a:solidFill>
                  <a:srgbClr val="137C73"/>
                </a:solidFill>
                <a:latin typeface="Arial"/>
                <a:ea typeface="Arial"/>
                <a:cs typeface="Arial"/>
                <a:hlinkClick xmlns:r="http://schemas.openxmlformats.org/officeDocument/2006/relationships" r:id="Rca7d338e19c54a0e"/>
              </a:rPr>
              <a:t>GitHub: https://github.com/OmoniyiIfeAbraham/CLOUDDROP</a:t>
            </a:r>
          </a:p>
        </p:txBody>
      </p:sp>
    </p:spTree>
    <p:extLst>
      <p:ext uri="{BB962C8B-B14F-4D97-AF65-F5344CB8AC3E}">
        <p14:creationId xmlns:p14="http://schemas.microsoft.com/office/powerpoint/2010/main" val="12695638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21">
            <a:extLst xmlns:a="http://schemas.openxmlformats.org/drawingml/2006/main">
              <a:ext uri="{FF2B5EF4-FFF2-40B4-BE49-F238E27FC236}">
                <a16:creationId xmlns:a16="http://schemas.microsoft.com/office/drawing/2014/main" id="{39C14FFC-0089-4AC3-8EDA-92E7BB8B3772}"/>
              </a:ext>
            </a:extLst>
          </p:cNvPr>
          <p:cNvSpPr>
            <a:spLocks xmlns:a="http://schemas.openxmlformats.org/drawingml/2006/main" noGrp="1"/>
          </p:cNvSpPr>
          <p:nvPr/>
        </p:nvSpPr>
        <p:spPr>
          <a:xfrm xmlns:a="http://schemas.openxmlformats.org/drawingml/2006/main">
            <a:off x="571500" y="38100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7332F"/>
                </a:solidFill>
                <a:latin typeface="Arial"/>
                <a:ea typeface="Arial"/>
                <a:cs typeface="Arial"/>
              </a:defRPr>
            </a:defPPr>
          </a:lstStyle>
          <a:p xmlns:a="http://schemas.openxmlformats.org/drawingml/2006/main">
            <a:pPr algn="l">
              <a:defRPr sz="3000" b="1">
                <a:solidFill>
                  <a:srgbClr val="17332F"/>
                </a:solidFill>
                <a:latin typeface="Arial"/>
                <a:ea typeface="Arial"/>
                <a:cs typeface="Arial"/>
              </a:defRPr>
            </a:pPr>
            <a:r>
              <a:rPr sz="3000" b="1">
                <a:solidFill>
                  <a:srgbClr val="17332F"/>
                </a:solidFill>
                <a:latin typeface="Arial"/>
                <a:ea typeface="Arial"/>
                <a:cs typeface="Arial"/>
              </a:rPr>
              <a:t>Why CloudDrop?</a:t>
            </a:r>
          </a:p>
        </p:txBody>
      </p:sp>
      <p:sp>
        <p:nvSpPr>
          <p:cNvPr id="2" name="">
            <a:extLst xmlns:a="http://schemas.openxmlformats.org/drawingml/2006/main">
              <a:ext uri="{FF2B5EF4-FFF2-40B4-BE49-F238E27FC236}">
                <a16:creationId xmlns:a16="http://schemas.microsoft.com/office/drawing/2014/main" id="{1C4F1B8D-AB3E-43D2-B4B1-A5535527345F}"/>
              </a:ext>
            </a:extLst>
          </p:cNvPr>
          <p:cNvSpPr>
            <a:spLocks xmlns:a="http://schemas.openxmlformats.org/drawingml/2006/main" noGrp="1"/>
          </p:cNvSpPr>
          <p:nvPr/>
        </p:nvSpPr>
        <p:spPr>
          <a:xfrm xmlns:a="http://schemas.openxmlformats.org/drawingml/2006/main">
            <a:off x="571500" y="1095375"/>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3" name="text-22">
            <a:extLst xmlns:a="http://schemas.openxmlformats.org/drawingml/2006/main">
              <a:ext uri="{FF2B5EF4-FFF2-40B4-BE49-F238E27FC236}">
                <a16:creationId xmlns:a16="http://schemas.microsoft.com/office/drawing/2014/main" id="{4D03D053-8985-4DB7-945B-12A738851016}"/>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71807C"/>
                </a:solidFill>
                <a:latin typeface="Arial"/>
                <a:ea typeface="Arial"/>
                <a:cs typeface="Arial"/>
              </a:defRPr>
            </a:defPPr>
          </a:lstStyle>
          <a:p xmlns:a="http://schemas.openxmlformats.org/drawingml/2006/main">
            <a:pPr algn="r">
              <a:defRPr sz="1125" b="0">
                <a:solidFill>
                  <a:srgbClr val="71807C"/>
                </a:solidFill>
                <a:latin typeface="Arial"/>
                <a:ea typeface="Arial"/>
                <a:cs typeface="Arial"/>
              </a:defRPr>
            </a:pPr>
            <a:r>
              <a:rPr sz="1125" b="0">
                <a:solidFill>
                  <a:srgbClr val="71807C"/>
                </a:solidFill>
                <a:latin typeface="Arial"/>
                <a:ea typeface="Arial"/>
                <a:cs typeface="Arial"/>
              </a:rPr>
              <a:t>02</a:t>
            </a:r>
          </a:p>
        </p:txBody>
      </p:sp>
      <p:sp>
        <p:nvSpPr>
          <p:cNvPr id="4" name="text-23">
            <a:extLst xmlns:a="http://schemas.openxmlformats.org/drawingml/2006/main">
              <a:ext uri="{FF2B5EF4-FFF2-40B4-BE49-F238E27FC236}">
                <a16:creationId xmlns:a16="http://schemas.microsoft.com/office/drawing/2014/main" id="{14E5816A-CE18-43B3-839F-2F3DA42C1332}"/>
              </a:ext>
            </a:extLst>
          </p:cNvPr>
          <p:cNvSpPr>
            <a:spLocks xmlns:a="http://schemas.openxmlformats.org/drawingml/2006/main" noGrp="1"/>
          </p:cNvSpPr>
          <p:nvPr/>
        </p:nvSpPr>
        <p:spPr>
          <a:xfrm xmlns:a="http://schemas.openxmlformats.org/drawingml/2006/main">
            <a:off x="571500" y="1562100"/>
            <a:ext cx="6572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32F"/>
                </a:solidFill>
                <a:latin typeface="Arial"/>
                <a:ea typeface="Arial"/>
                <a:cs typeface="Arial"/>
              </a:defRPr>
            </a:defPPr>
          </a:lstStyle>
          <a:p xmlns:a="http://schemas.openxmlformats.org/drawingml/2006/main">
            <a:pPr marL="228600" indent="-127000" algn="l">
              <a:spcAft>
                <a:spcPts val="1600"/>
              </a:spcAft>
              <a:buChar char="•"/>
              <a:defRPr sz="2175" b="0">
                <a:solidFill>
                  <a:srgbClr val="17332F"/>
                </a:solidFill>
                <a:latin typeface="Arial"/>
                <a:ea typeface="Arial"/>
                <a:cs typeface="Arial"/>
              </a:defRPr>
            </a:pPr>
            <a:r>
              <a:rPr sz="2175">
                <a:solidFill>
                  <a:srgbClr val="17332F"/>
                </a:solidFill>
                <a:latin typeface="Arial"/>
                <a:ea typeface="Arial"/>
                <a:cs typeface="Arial"/>
              </a:rPr>
              <a:t>Device loss or failure can put local files at risk.</a:t>
            </a:r>
          </a:p>
          <a:p xmlns:a="http://schemas.openxmlformats.org/drawingml/2006/main">
            <a:pPr marL="228600" indent="-127000" algn="l">
              <a:spcAft>
                <a:spcPts val="1600"/>
              </a:spcAft>
              <a:buChar char="•"/>
              <a:defRPr sz="2175" b="0">
                <a:solidFill>
                  <a:srgbClr val="17332F"/>
                </a:solidFill>
                <a:latin typeface="Arial"/>
                <a:ea typeface="Arial"/>
                <a:cs typeface="Arial"/>
              </a:defRPr>
            </a:pPr>
            <a:r>
              <a:rPr sz="2175">
                <a:solidFill>
                  <a:srgbClr val="17332F"/>
                </a:solidFill>
                <a:latin typeface="Arial"/>
                <a:ea typeface="Arial"/>
                <a:cs typeface="Arial"/>
              </a:rPr>
              <a:t>Sharing files securely can be inconvenient.</a:t>
            </a:r>
          </a:p>
          <a:p xmlns:a="http://schemas.openxmlformats.org/drawingml/2006/main">
            <a:pPr marL="228600" indent="-127000" algn="l">
              <a:spcAft>
                <a:spcPts val="1600"/>
              </a:spcAft>
              <a:buChar char="•"/>
              <a:defRPr sz="2175" b="0">
                <a:solidFill>
                  <a:srgbClr val="17332F"/>
                </a:solidFill>
                <a:latin typeface="Arial"/>
                <a:ea typeface="Arial"/>
                <a:cs typeface="Arial"/>
              </a:defRPr>
            </a:pPr>
            <a:r>
              <a:rPr sz="2175">
                <a:solidFill>
                  <a:srgbClr val="17332F"/>
                </a:solidFill>
                <a:latin typeface="Arial"/>
                <a:ea typeface="Arial"/>
                <a:cs typeface="Arial"/>
              </a:rPr>
              <a:t>Users need access to their files across devices.</a:t>
            </a:r>
          </a:p>
          <a:p xmlns:a="http://schemas.openxmlformats.org/drawingml/2006/main">
            <a:pPr marL="228600" indent="-127000" algn="l">
              <a:spcAft>
                <a:spcPts val="1600"/>
              </a:spcAft>
              <a:buChar char="•"/>
              <a:defRPr sz="2175" b="0">
                <a:solidFill>
                  <a:srgbClr val="17332F"/>
                </a:solidFill>
                <a:latin typeface="Arial"/>
                <a:ea typeface="Arial"/>
                <a:cs typeface="Arial"/>
              </a:defRPr>
            </a:pPr>
            <a:r>
              <a:rPr sz="2175">
                <a:solidFill>
                  <a:srgbClr val="17332F"/>
                </a:solidFill>
                <a:latin typeface="Arial"/>
                <a:ea typeface="Arial"/>
                <a:cs typeface="Arial"/>
              </a:rPr>
              <a:t>Shared access should expire when it is no longer needed.</a:t>
            </a:r>
          </a:p>
        </p:txBody>
      </p:sp>
      <p:sp>
        <p:nvSpPr>
          <p:cNvPr id="5" name="text-24">
            <a:extLst xmlns:a="http://schemas.openxmlformats.org/drawingml/2006/main">
              <a:ext uri="{FF2B5EF4-FFF2-40B4-BE49-F238E27FC236}">
                <a16:creationId xmlns:a16="http://schemas.microsoft.com/office/drawing/2014/main" id="{DE9BD2D3-963A-4ED8-9F55-E6AFA654FCFE}"/>
              </a:ext>
            </a:extLst>
          </p:cNvPr>
          <p:cNvSpPr>
            <a:spLocks xmlns:a="http://schemas.openxmlformats.org/drawingml/2006/main" noGrp="1"/>
          </p:cNvSpPr>
          <p:nvPr/>
        </p:nvSpPr>
        <p:spPr>
          <a:xfrm xmlns:a="http://schemas.openxmlformats.org/drawingml/2006/main">
            <a:off x="7905750" y="156210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7C73"/>
                </a:solidFill>
                <a:latin typeface="Arial"/>
                <a:ea typeface="Arial"/>
                <a:cs typeface="Arial"/>
              </a:defRPr>
            </a:defPPr>
          </a:lstStyle>
          <a:p xmlns:a="http://schemas.openxmlformats.org/drawingml/2006/main">
            <a:pPr algn="l">
              <a:defRPr sz="2175" b="1">
                <a:solidFill>
                  <a:srgbClr val="137C73"/>
                </a:solidFill>
                <a:latin typeface="Arial"/>
                <a:ea typeface="Arial"/>
                <a:cs typeface="Arial"/>
              </a:defRPr>
            </a:pPr>
            <a:r>
              <a:rPr sz="2175" b="1">
                <a:solidFill>
                  <a:srgbClr val="137C73"/>
                </a:solidFill>
                <a:latin typeface="Arial"/>
                <a:ea typeface="Arial"/>
                <a:cs typeface="Arial"/>
              </a:rPr>
              <a:t>Project objective</a:t>
            </a:r>
          </a:p>
        </p:txBody>
      </p:sp>
      <p:sp>
        <p:nvSpPr>
          <p:cNvPr id="6" name="text-25">
            <a:extLst xmlns:a="http://schemas.openxmlformats.org/drawingml/2006/main">
              <a:ext uri="{FF2B5EF4-FFF2-40B4-BE49-F238E27FC236}">
                <a16:creationId xmlns:a16="http://schemas.microsoft.com/office/drawing/2014/main" id="{9C0C3340-D14A-429B-901F-3E3A22EFDE8A}"/>
              </a:ext>
            </a:extLst>
          </p:cNvPr>
          <p:cNvSpPr>
            <a:spLocks xmlns:a="http://schemas.openxmlformats.org/drawingml/2006/main" noGrp="1"/>
          </p:cNvSpPr>
          <p:nvPr/>
        </p:nvSpPr>
        <p:spPr>
          <a:xfrm xmlns:a="http://schemas.openxmlformats.org/drawingml/2006/main">
            <a:off x="7905750" y="2219325"/>
            <a:ext cx="361950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7332F"/>
                </a:solidFill>
                <a:latin typeface="Arial"/>
                <a:ea typeface="Arial"/>
                <a:cs typeface="Arial"/>
              </a:defRPr>
            </a:defPPr>
          </a:lstStyle>
          <a:p xmlns:a="http://schemas.openxmlformats.org/drawingml/2006/main">
            <a:pPr algn="l">
              <a:defRPr sz="2325" b="0">
                <a:solidFill>
                  <a:srgbClr val="17332F"/>
                </a:solidFill>
                <a:latin typeface="Arial"/>
                <a:ea typeface="Arial"/>
                <a:cs typeface="Arial"/>
              </a:defRPr>
            </a:pPr>
            <a:r>
              <a:rPr sz="2325" b="0">
                <a:solidFill>
                  <a:srgbClr val="17332F"/>
                </a:solidFill>
                <a:latin typeface="Arial"/>
                <a:ea typeface="Arial"/>
                <a:cs typeface="Arial"/>
              </a:rPr>
              <a:t>Build and deploy a working AWS application for secure file management and temporary sharing.</a:t>
            </a:r>
          </a:p>
        </p:txBody>
      </p:sp>
      <p:sp>
        <p:nvSpPr>
          <p:cNvPr id="7" name="text-26">
            <a:extLst xmlns:a="http://schemas.openxmlformats.org/drawingml/2006/main">
              <a:ext uri="{FF2B5EF4-FFF2-40B4-BE49-F238E27FC236}">
                <a16:creationId xmlns:a16="http://schemas.microsoft.com/office/drawing/2014/main" id="{864F9733-0897-40D2-99FD-A22AB889B3B4}"/>
              </a:ext>
            </a:extLst>
          </p:cNvPr>
          <p:cNvSpPr>
            <a:spLocks xmlns:a="http://schemas.openxmlformats.org/drawingml/2006/main" noGrp="1"/>
          </p:cNvSpPr>
          <p:nvPr/>
        </p:nvSpPr>
        <p:spPr>
          <a:xfrm xmlns:a="http://schemas.openxmlformats.org/drawingml/2006/main">
            <a:off x="571500" y="56197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7C73"/>
                </a:solidFill>
                <a:latin typeface="Arial"/>
                <a:ea typeface="Arial"/>
                <a:cs typeface="Arial"/>
              </a:defRPr>
            </a:defPPr>
          </a:lstStyle>
          <a:p xmlns:a="http://schemas.openxmlformats.org/drawingml/2006/main">
            <a:pPr algn="l">
              <a:defRPr sz="2100" b="1">
                <a:solidFill>
                  <a:srgbClr val="137C73"/>
                </a:solidFill>
                <a:latin typeface="Arial"/>
                <a:ea typeface="Arial"/>
                <a:cs typeface="Arial"/>
              </a:defRPr>
            </a:pPr>
            <a:r>
              <a:rPr sz="2100" b="1">
                <a:solidFill>
                  <a:srgbClr val="137C73"/>
                </a:solidFill>
                <a:latin typeface="Arial"/>
                <a:ea typeface="Arial"/>
                <a:cs typeface="Arial"/>
              </a:rPr>
              <a:t>A personal workspace with controlled access</a:t>
            </a:r>
          </a:p>
        </p:txBody>
      </p:sp>
    </p:spTree>
    <p:extLst>
      <p:ext uri="{BB962C8B-B14F-4D97-AF65-F5344CB8AC3E}">
        <p14:creationId xmlns:p14="http://schemas.microsoft.com/office/powerpoint/2010/main" val="6091906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F2CAF59-7689-4026-88EE-BB93533733B7}"/>
              </a:ext>
            </a:extLst>
          </p:cNvPr>
          <p:cNvPicPr>
            <a:picLocks xmlns:a="http://schemas.openxmlformats.org/drawingml/2006/main" noChangeAspect="1"/>
          </p:cNvPicPr>
          <p:nvPr/>
        </p:nvPicPr>
        <p:blipFill>
          <a:blip xmlns:r="http://schemas.openxmlformats.org/officeDocument/2006/relationships" xmlns:a="http://schemas.openxmlformats.org/drawingml/2006/main" r:embed="R8fb18eda7d6047d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0785813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7">
            <a:extLst xmlns:a="http://schemas.openxmlformats.org/drawingml/2006/main">
              <a:ext uri="{FF2B5EF4-FFF2-40B4-BE49-F238E27FC236}">
                <a16:creationId xmlns:a16="http://schemas.microsoft.com/office/drawing/2014/main" id="{E44EB862-D4E6-44FE-BCB5-9EF37883E5E9}"/>
              </a:ext>
            </a:extLst>
          </p:cNvPr>
          <p:cNvSpPr>
            <a:spLocks xmlns:a="http://schemas.openxmlformats.org/drawingml/2006/main" noGrp="1"/>
          </p:cNvSpPr>
          <p:nvPr/>
        </p:nvSpPr>
        <p:spPr>
          <a:xfrm xmlns:a="http://schemas.openxmlformats.org/drawingml/2006/main">
            <a:off x="571500" y="38100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7332F"/>
                </a:solidFill>
                <a:latin typeface="Arial"/>
                <a:ea typeface="Arial"/>
                <a:cs typeface="Arial"/>
              </a:defRPr>
            </a:defPPr>
          </a:lstStyle>
          <a:p xmlns:a="http://schemas.openxmlformats.org/drawingml/2006/main">
            <a:pPr algn="l">
              <a:defRPr sz="3000" b="1">
                <a:solidFill>
                  <a:srgbClr val="17332F"/>
                </a:solidFill>
                <a:latin typeface="Arial"/>
                <a:ea typeface="Arial"/>
                <a:cs typeface="Arial"/>
              </a:defRPr>
            </a:pPr>
            <a:r>
              <a:rPr sz="3000" b="1">
                <a:solidFill>
                  <a:srgbClr val="17332F"/>
                </a:solidFill>
                <a:latin typeface="Arial"/>
                <a:ea typeface="Arial"/>
                <a:cs typeface="Arial"/>
              </a:rPr>
              <a:t>Technologies Powering CloudDrop</a:t>
            </a:r>
          </a:p>
        </p:txBody>
      </p:sp>
      <p:sp>
        <p:nvSpPr>
          <p:cNvPr id="2" name="">
            <a:extLst xmlns:a="http://schemas.openxmlformats.org/drawingml/2006/main">
              <a:ext uri="{FF2B5EF4-FFF2-40B4-BE49-F238E27FC236}">
                <a16:creationId xmlns:a16="http://schemas.microsoft.com/office/drawing/2014/main" id="{5A474397-70E5-44B1-9294-FB225DE87E38}"/>
              </a:ext>
            </a:extLst>
          </p:cNvPr>
          <p:cNvSpPr>
            <a:spLocks xmlns:a="http://schemas.openxmlformats.org/drawingml/2006/main" noGrp="1"/>
          </p:cNvSpPr>
          <p:nvPr/>
        </p:nvSpPr>
        <p:spPr>
          <a:xfrm xmlns:a="http://schemas.openxmlformats.org/drawingml/2006/main">
            <a:off x="571500" y="1095375"/>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3" name="text-28">
            <a:extLst xmlns:a="http://schemas.openxmlformats.org/drawingml/2006/main">
              <a:ext uri="{FF2B5EF4-FFF2-40B4-BE49-F238E27FC236}">
                <a16:creationId xmlns:a16="http://schemas.microsoft.com/office/drawing/2014/main" id="{ADC1BFA0-30F5-4ED9-86F1-17934BE903FD}"/>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71807C"/>
                </a:solidFill>
                <a:latin typeface="Arial"/>
                <a:ea typeface="Arial"/>
                <a:cs typeface="Arial"/>
              </a:defRPr>
            </a:defPPr>
          </a:lstStyle>
          <a:p xmlns:a="http://schemas.openxmlformats.org/drawingml/2006/main">
            <a:pPr algn="r">
              <a:defRPr sz="1125" b="0">
                <a:solidFill>
                  <a:srgbClr val="71807C"/>
                </a:solidFill>
                <a:latin typeface="Arial"/>
                <a:ea typeface="Arial"/>
                <a:cs typeface="Arial"/>
              </a:defRPr>
            </a:pPr>
            <a:r>
              <a:rPr sz="1125" b="0">
                <a:solidFill>
                  <a:srgbClr val="71807C"/>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1B7F38E3-44A4-49E6-9AFE-5982B7F3B79A}"/>
              </a:ext>
            </a:extLst>
          </p:cNvPr>
          <p:cNvGraphicFramePr/>
          <p:nvPr/>
        </p:nvGraphicFramePr>
        <p:xfrm>
          <a:off xmlns:a="http://schemas.openxmlformats.org/drawingml/2006/main" x="571500" y="1438275"/>
          <a:ext xmlns:a="http://schemas.openxmlformats.org/drawingml/2006/main" cx="6858000" cy="4419600"/>
        </p:xfrm>
        <a:graphic xmlns:a="http://schemas.openxmlformats.org/drawingml/2006/main">
          <a:graphicData uri="http://schemas.openxmlformats.org/drawingml/2006/table">
            <a:tbl>
              <a:tblPr/>
              <a:tblGrid>
                <a:gridCol w="1952625"/>
                <a:gridCol w="4905375"/>
              </a:tblGrid>
              <a:tr h="552450">
                <a:tc>
                  <a:txBody>
                    <a:bodyPr lIns="95250" tIns="95250" rIns="95250" bIns="95250">
                      <a:noAutofit/>
                    </a:bodyPr>
                    <a:lstStyle/>
                    <a:p>
                      <a:r>
                        <a:rPr sz="1800" b="1">
                          <a:solidFill>
                            <a:srgbClr val="FFFFFF"/>
                          </a:solidFill>
                          <a:latin typeface="Arial"/>
                          <a:ea typeface="Arial"/>
                          <a:cs typeface="Arial"/>
                        </a:rPr>
                        <a:t>Layer</a:t>
                      </a:r>
                    </a:p>
                  </a:txBody>
                  <a:tcPr marL="91440" marR="91440" marT="45720" marB="45720" anchor="ctr">
                    <a:lnL w="6668">
                      <a:solidFill>
                        <a:srgbClr val="CCDAD5"/>
                      </a:solidFill>
                      <a:prstDash val="solid"/>
                    </a:lnL>
                    <a:lnR w="6668">
                      <a:solidFill>
                        <a:srgbClr val="CCDAD5"/>
                      </a:solidFill>
                      <a:prstDash val="solid"/>
                    </a:lnR>
                    <a:lnT w="6668">
                      <a:solidFill>
                        <a:srgbClr val="CCDAD5"/>
                      </a:solidFill>
                      <a:prstDash val="solid"/>
                    </a:lnT>
                    <a:lnB w="6668">
                      <a:solidFill>
                        <a:srgbClr val="CCDAD5"/>
                      </a:solidFill>
                      <a:prstDash val="solid"/>
                    </a:lnB>
                    <a:solidFill>
                      <a:srgbClr val="137C73"/>
                    </a:solidFill>
                  </a:tcPr>
                </a:tc>
                <a:tc>
                  <a:txBody>
                    <a:bodyPr lIns="95250" tIns="95250" rIns="95250" bIns="95250">
                      <a:noAutofit/>
                    </a:bodyPr>
                    <a:lstStyle/>
                    <a:p>
                      <a:r>
                        <a:rPr sz="1800" b="1">
                          <a:solidFill>
                            <a:srgbClr val="FFFFFF"/>
                          </a:solidFill>
                          <a:latin typeface="Arial"/>
                          <a:ea typeface="Arial"/>
                          <a:cs typeface="Arial"/>
                        </a:rPr>
                        <a:t>Technology</a:t>
                      </a:r>
                    </a:p>
                  </a:txBody>
                  <a:tcPr marL="91440" marR="91440" marT="45720" marB="45720" anchor="ctr">
                    <a:lnR w="6668">
                      <a:solidFill>
                        <a:srgbClr val="CCDAD5"/>
                      </a:solidFill>
                      <a:prstDash val="solid"/>
                    </a:lnR>
                    <a:lnT w="6668">
                      <a:solidFill>
                        <a:srgbClr val="CCDAD5"/>
                      </a:solidFill>
                      <a:prstDash val="solid"/>
                    </a:lnT>
                    <a:lnB w="6668">
                      <a:solidFill>
                        <a:srgbClr val="CCDAD5"/>
                      </a:solidFill>
                      <a:prstDash val="solid"/>
                    </a:lnB>
                    <a:solidFill>
                      <a:srgbClr val="137C73"/>
                    </a:solidFill>
                  </a:tcPr>
                </a:tc>
              </a:tr>
              <a:tr h="552450">
                <a:tc>
                  <a:txBody>
                    <a:bodyPr lIns="95250" tIns="95250" rIns="95250" bIns="95250">
                      <a:noAutofit/>
                    </a:bodyPr>
                    <a:lstStyle/>
                    <a:p>
                      <a:r>
                        <a:rPr sz="1725" b="0">
                          <a:solidFill>
                            <a:srgbClr val="17332F"/>
                          </a:solidFill>
                          <a:latin typeface="Arial"/>
                          <a:ea typeface="Arial"/>
                          <a:cs typeface="Arial"/>
                        </a:rPr>
                        <a:t>Frontend</a:t>
                      </a:r>
                    </a:p>
                  </a:txBody>
                  <a:tcPr marL="91440" marR="91440" marT="45720" marB="45720" anchor="ctr">
                    <a:lnL w="6668">
                      <a:solidFill>
                        <a:srgbClr val="CCDAD5"/>
                      </a:solidFill>
                      <a:prstDash val="solid"/>
                    </a:lnL>
                    <a:lnR w="6668">
                      <a:solidFill>
                        <a:srgbClr val="CCDAD5"/>
                      </a:solidFill>
                      <a:prstDash val="solid"/>
                    </a:lnR>
                    <a:lnB w="6668">
                      <a:solidFill>
                        <a:srgbClr val="CCDAD5"/>
                      </a:solidFill>
                      <a:prstDash val="solid"/>
                    </a:lnB>
                    <a:solidFill>
                      <a:srgbClr val="FFFFFF"/>
                    </a:solidFill>
                  </a:tcPr>
                </a:tc>
                <a:tc>
                  <a:txBody>
                    <a:bodyPr lIns="95250" tIns="95250" rIns="95250" bIns="95250">
                      <a:noAutofit/>
                    </a:bodyPr>
                    <a:lstStyle/>
                    <a:p>
                      <a:r>
                        <a:rPr sz="1725" b="0">
                          <a:solidFill>
                            <a:srgbClr val="17332F"/>
                          </a:solidFill>
                          <a:latin typeface="Arial"/>
                          <a:ea typeface="Arial"/>
                          <a:cs typeface="Arial"/>
                        </a:rPr>
                        <a:t>React, Vite, TypeScript</a:t>
                      </a:r>
                    </a:p>
                  </a:txBody>
                  <a:tcPr marL="91440" marR="91440" marT="45720" marB="45720" anchor="ctr">
                    <a:lnR w="6668">
                      <a:solidFill>
                        <a:srgbClr val="CCDAD5"/>
                      </a:solidFill>
                      <a:prstDash val="solid"/>
                    </a:lnR>
                    <a:lnB w="6668">
                      <a:solidFill>
                        <a:srgbClr val="CCDAD5"/>
                      </a:solidFill>
                      <a:prstDash val="solid"/>
                    </a:lnB>
                    <a:solidFill>
                      <a:srgbClr val="FFFFFF"/>
                    </a:solidFill>
                  </a:tcPr>
                </a:tc>
              </a:tr>
              <a:tr h="552450">
                <a:tc>
                  <a:txBody>
                    <a:bodyPr lIns="95250" tIns="95250" rIns="95250" bIns="95250">
                      <a:noAutofit/>
                    </a:bodyPr>
                    <a:lstStyle/>
                    <a:p>
                      <a:r>
                        <a:rPr sz="1725" b="0">
                          <a:solidFill>
                            <a:srgbClr val="17332F"/>
                          </a:solidFill>
                          <a:latin typeface="Arial"/>
                          <a:ea typeface="Arial"/>
                          <a:cs typeface="Arial"/>
                        </a:rPr>
                        <a:t>Backend</a:t>
                      </a:r>
                    </a:p>
                  </a:txBody>
                  <a:tcPr marL="91440" marR="91440" marT="45720" marB="45720" anchor="ctr">
                    <a:lnL w="6668">
                      <a:solidFill>
                        <a:srgbClr val="CCDAD5"/>
                      </a:solidFill>
                      <a:prstDash val="solid"/>
                    </a:lnL>
                    <a:lnR w="6668">
                      <a:solidFill>
                        <a:srgbClr val="CCDAD5"/>
                      </a:solidFill>
                      <a:prstDash val="solid"/>
                    </a:lnR>
                    <a:lnB w="6668">
                      <a:solidFill>
                        <a:srgbClr val="CCDAD5"/>
                      </a:solidFill>
                      <a:prstDash val="solid"/>
                    </a:lnB>
                    <a:solidFill>
                      <a:srgbClr val="FFFFFF"/>
                    </a:solidFill>
                  </a:tcPr>
                </a:tc>
                <a:tc>
                  <a:txBody>
                    <a:bodyPr lIns="95250" tIns="95250" rIns="95250" bIns="95250">
                      <a:noAutofit/>
                    </a:bodyPr>
                    <a:lstStyle/>
                    <a:p>
                      <a:r>
                        <a:rPr sz="1725" b="0">
                          <a:solidFill>
                            <a:srgbClr val="17332F"/>
                          </a:solidFill>
                          <a:latin typeface="Arial"/>
                          <a:ea typeface="Arial"/>
                          <a:cs typeface="Arial"/>
                        </a:rPr>
                        <a:t>Node.js, Express, TypeScript</a:t>
                      </a:r>
                    </a:p>
                  </a:txBody>
                  <a:tcPr marL="91440" marR="91440" marT="45720" marB="45720" anchor="ctr">
                    <a:lnR w="6668">
                      <a:solidFill>
                        <a:srgbClr val="CCDAD5"/>
                      </a:solidFill>
                      <a:prstDash val="solid"/>
                    </a:lnR>
                    <a:lnB w="6668">
                      <a:solidFill>
                        <a:srgbClr val="CCDAD5"/>
                      </a:solidFill>
                      <a:prstDash val="solid"/>
                    </a:lnB>
                    <a:solidFill>
                      <a:srgbClr val="FFFFFF"/>
                    </a:solidFill>
                  </a:tcPr>
                </a:tc>
              </a:tr>
              <a:tr h="552450">
                <a:tc>
                  <a:txBody>
                    <a:bodyPr lIns="95250" tIns="95250" rIns="95250" bIns="95250">
                      <a:noAutofit/>
                    </a:bodyPr>
                    <a:lstStyle/>
                    <a:p>
                      <a:r>
                        <a:rPr sz="1725" b="0">
                          <a:solidFill>
                            <a:srgbClr val="17332F"/>
                          </a:solidFill>
                          <a:latin typeface="Arial"/>
                          <a:ea typeface="Arial"/>
                          <a:cs typeface="Arial"/>
                        </a:rPr>
                        <a:t>Database</a:t>
                      </a:r>
                    </a:p>
                  </a:txBody>
                  <a:tcPr marL="91440" marR="91440" marT="45720" marB="45720" anchor="ctr">
                    <a:lnL w="6668">
                      <a:solidFill>
                        <a:srgbClr val="CCDAD5"/>
                      </a:solidFill>
                      <a:prstDash val="solid"/>
                    </a:lnL>
                    <a:lnR w="6668">
                      <a:solidFill>
                        <a:srgbClr val="CCDAD5"/>
                      </a:solidFill>
                      <a:prstDash val="solid"/>
                    </a:lnR>
                    <a:lnB w="6668">
                      <a:solidFill>
                        <a:srgbClr val="CCDAD5"/>
                      </a:solidFill>
                      <a:prstDash val="solid"/>
                    </a:lnB>
                    <a:solidFill>
                      <a:srgbClr val="FFFFFF"/>
                    </a:solidFill>
                  </a:tcPr>
                </a:tc>
                <a:tc>
                  <a:txBody>
                    <a:bodyPr lIns="95250" tIns="95250" rIns="95250" bIns="95250">
                      <a:noAutofit/>
                    </a:bodyPr>
                    <a:lstStyle/>
                    <a:p>
                      <a:r>
                        <a:rPr sz="1725" b="0">
                          <a:solidFill>
                            <a:srgbClr val="17332F"/>
                          </a:solidFill>
                          <a:latin typeface="Arial"/>
                          <a:ea typeface="Arial"/>
                          <a:cs typeface="Arial"/>
                        </a:rPr>
                        <a:t>PostgreSQL, Prisma</a:t>
                      </a:r>
                    </a:p>
                  </a:txBody>
                  <a:tcPr marL="91440" marR="91440" marT="45720" marB="45720" anchor="ctr">
                    <a:lnR w="6668">
                      <a:solidFill>
                        <a:srgbClr val="CCDAD5"/>
                      </a:solidFill>
                      <a:prstDash val="solid"/>
                    </a:lnR>
                    <a:lnB w="6668">
                      <a:solidFill>
                        <a:srgbClr val="CCDAD5"/>
                      </a:solidFill>
                      <a:prstDash val="solid"/>
                    </a:lnB>
                    <a:solidFill>
                      <a:srgbClr val="FFFFFF"/>
                    </a:solidFill>
                  </a:tcPr>
                </a:tc>
              </a:tr>
              <a:tr h="552450">
                <a:tc>
                  <a:txBody>
                    <a:bodyPr lIns="95250" tIns="95250" rIns="95250" bIns="95250">
                      <a:noAutofit/>
                    </a:bodyPr>
                    <a:lstStyle/>
                    <a:p>
                      <a:r>
                        <a:rPr sz="1725" b="0">
                          <a:solidFill>
                            <a:srgbClr val="17332F"/>
                          </a:solidFill>
                          <a:latin typeface="Arial"/>
                          <a:ea typeface="Arial"/>
                          <a:cs typeface="Arial"/>
                        </a:rPr>
                        <a:t>Cloud</a:t>
                      </a:r>
                    </a:p>
                  </a:txBody>
                  <a:tcPr marL="91440" marR="91440" marT="45720" marB="45720" anchor="ctr">
                    <a:lnL w="6668">
                      <a:solidFill>
                        <a:srgbClr val="CCDAD5"/>
                      </a:solidFill>
                      <a:prstDash val="solid"/>
                    </a:lnL>
                    <a:lnR w="6668">
                      <a:solidFill>
                        <a:srgbClr val="CCDAD5"/>
                      </a:solidFill>
                      <a:prstDash val="solid"/>
                    </a:lnR>
                    <a:lnB w="6668">
                      <a:solidFill>
                        <a:srgbClr val="CCDAD5"/>
                      </a:solidFill>
                      <a:prstDash val="solid"/>
                    </a:lnB>
                    <a:solidFill>
                      <a:srgbClr val="FFFFFF"/>
                    </a:solidFill>
                  </a:tcPr>
                </a:tc>
                <a:tc>
                  <a:txBody>
                    <a:bodyPr lIns="95250" tIns="95250" rIns="95250" bIns="95250">
                      <a:noAutofit/>
                    </a:bodyPr>
                    <a:lstStyle/>
                    <a:p>
                      <a:r>
                        <a:rPr sz="1725" b="0">
                          <a:solidFill>
                            <a:srgbClr val="17332F"/>
                          </a:solidFill>
                          <a:latin typeface="Arial"/>
                          <a:ea typeface="Arial"/>
                          <a:cs typeface="Arial"/>
                        </a:rPr>
                        <a:t>AWS EC2, RDS, S3</a:t>
                      </a:r>
                    </a:p>
                  </a:txBody>
                  <a:tcPr marL="91440" marR="91440" marT="45720" marB="45720" anchor="ctr">
                    <a:lnR w="6668">
                      <a:solidFill>
                        <a:srgbClr val="CCDAD5"/>
                      </a:solidFill>
                      <a:prstDash val="solid"/>
                    </a:lnR>
                    <a:lnB w="6668">
                      <a:solidFill>
                        <a:srgbClr val="CCDAD5"/>
                      </a:solidFill>
                      <a:prstDash val="solid"/>
                    </a:lnB>
                    <a:solidFill>
                      <a:srgbClr val="FFFFFF"/>
                    </a:solidFill>
                  </a:tcPr>
                </a:tc>
              </a:tr>
              <a:tr h="552450">
                <a:tc>
                  <a:txBody>
                    <a:bodyPr lIns="95250" tIns="95250" rIns="95250" bIns="95250">
                      <a:noAutofit/>
                    </a:bodyPr>
                    <a:lstStyle/>
                    <a:p>
                      <a:r>
                        <a:rPr sz="1725" b="0">
                          <a:solidFill>
                            <a:srgbClr val="17332F"/>
                          </a:solidFill>
                          <a:latin typeface="Arial"/>
                          <a:ea typeface="Arial"/>
                          <a:cs typeface="Arial"/>
                        </a:rPr>
                        <a:t>Infrastructure</a:t>
                      </a:r>
                    </a:p>
                  </a:txBody>
                  <a:tcPr marL="91440" marR="91440" marT="45720" marB="45720" anchor="ctr">
                    <a:lnL w="6668">
                      <a:solidFill>
                        <a:srgbClr val="CCDAD5"/>
                      </a:solidFill>
                      <a:prstDash val="solid"/>
                    </a:lnL>
                    <a:lnR w="6668">
                      <a:solidFill>
                        <a:srgbClr val="CCDAD5"/>
                      </a:solidFill>
                      <a:prstDash val="solid"/>
                    </a:lnR>
                    <a:lnB w="6668">
                      <a:solidFill>
                        <a:srgbClr val="CCDAD5"/>
                      </a:solidFill>
                      <a:prstDash val="solid"/>
                    </a:lnB>
                    <a:solidFill>
                      <a:srgbClr val="FFFFFF"/>
                    </a:solidFill>
                  </a:tcPr>
                </a:tc>
                <a:tc>
                  <a:txBody>
                    <a:bodyPr lIns="95250" tIns="95250" rIns="95250" bIns="95250">
                      <a:noAutofit/>
                    </a:bodyPr>
                    <a:lstStyle/>
                    <a:p>
                      <a:r>
                        <a:rPr sz="1725" b="0">
                          <a:solidFill>
                            <a:srgbClr val="17332F"/>
                          </a:solidFill>
                          <a:latin typeface="Arial"/>
                          <a:ea typeface="Arial"/>
                          <a:cs typeface="Arial"/>
                        </a:rPr>
                        <a:t>Docker, Nginx</a:t>
                      </a:r>
                    </a:p>
                  </a:txBody>
                  <a:tcPr marL="91440" marR="91440" marT="45720" marB="45720" anchor="ctr">
                    <a:lnR w="6668">
                      <a:solidFill>
                        <a:srgbClr val="CCDAD5"/>
                      </a:solidFill>
                      <a:prstDash val="solid"/>
                    </a:lnR>
                    <a:lnB w="6668">
                      <a:solidFill>
                        <a:srgbClr val="CCDAD5"/>
                      </a:solidFill>
                      <a:prstDash val="solid"/>
                    </a:lnB>
                    <a:solidFill>
                      <a:srgbClr val="FFFFFF"/>
                    </a:solidFill>
                  </a:tcPr>
                </a:tc>
              </a:tr>
              <a:tr h="552450">
                <a:tc>
                  <a:txBody>
                    <a:bodyPr lIns="95250" tIns="95250" rIns="95250" bIns="95250">
                      <a:noAutofit/>
                    </a:bodyPr>
                    <a:lstStyle/>
                    <a:p>
                      <a:r>
                        <a:rPr sz="1725" b="0">
                          <a:solidFill>
                            <a:srgbClr val="17332F"/>
                          </a:solidFill>
                          <a:latin typeface="Arial"/>
                          <a:ea typeface="Arial"/>
                          <a:cs typeface="Arial"/>
                        </a:rPr>
                        <a:t>CI/CD</a:t>
                      </a:r>
                    </a:p>
                  </a:txBody>
                  <a:tcPr marL="91440" marR="91440" marT="45720" marB="45720" anchor="ctr">
                    <a:lnL w="6668">
                      <a:solidFill>
                        <a:srgbClr val="CCDAD5"/>
                      </a:solidFill>
                      <a:prstDash val="solid"/>
                    </a:lnL>
                    <a:lnR w="6668">
                      <a:solidFill>
                        <a:srgbClr val="CCDAD5"/>
                      </a:solidFill>
                      <a:prstDash val="solid"/>
                    </a:lnR>
                    <a:lnB w="6668">
                      <a:solidFill>
                        <a:srgbClr val="CCDAD5"/>
                      </a:solidFill>
                      <a:prstDash val="solid"/>
                    </a:lnB>
                    <a:solidFill>
                      <a:srgbClr val="FFFFFF"/>
                    </a:solidFill>
                  </a:tcPr>
                </a:tc>
                <a:tc>
                  <a:txBody>
                    <a:bodyPr lIns="95250" tIns="95250" rIns="95250" bIns="95250">
                      <a:noAutofit/>
                    </a:bodyPr>
                    <a:lstStyle/>
                    <a:p>
                      <a:r>
                        <a:rPr sz="1725" b="0">
                          <a:solidFill>
                            <a:srgbClr val="17332F"/>
                          </a:solidFill>
                          <a:latin typeface="Arial"/>
                          <a:ea typeface="Arial"/>
                          <a:cs typeface="Arial"/>
                        </a:rPr>
                        <a:t>GitHub Actions, GHCR</a:t>
                      </a:r>
                    </a:p>
                  </a:txBody>
                  <a:tcPr marL="91440" marR="91440" marT="45720" marB="45720" anchor="ctr">
                    <a:lnR w="6668">
                      <a:solidFill>
                        <a:srgbClr val="CCDAD5"/>
                      </a:solidFill>
                      <a:prstDash val="solid"/>
                    </a:lnR>
                    <a:lnB w="6668">
                      <a:solidFill>
                        <a:srgbClr val="CCDAD5"/>
                      </a:solidFill>
                      <a:prstDash val="solid"/>
                    </a:lnB>
                    <a:solidFill>
                      <a:srgbClr val="FFFFFF"/>
                    </a:solidFill>
                  </a:tcPr>
                </a:tc>
              </a:tr>
              <a:tr h="552450">
                <a:tc>
                  <a:txBody>
                    <a:bodyPr lIns="95250" tIns="95250" rIns="95250" bIns="95250">
                      <a:noAutofit/>
                    </a:bodyPr>
                    <a:lstStyle/>
                    <a:p>
                      <a:r>
                        <a:rPr sz="1725" b="0">
                          <a:solidFill>
                            <a:srgbClr val="17332F"/>
                          </a:solidFill>
                          <a:latin typeface="Arial"/>
                          <a:ea typeface="Arial"/>
                          <a:cs typeface="Arial"/>
                        </a:rPr>
                        <a:t>Email</a:t>
                      </a:r>
                    </a:p>
                  </a:txBody>
                  <a:tcPr marL="91440" marR="91440" marT="45720" marB="45720" anchor="ctr">
                    <a:lnL w="6668">
                      <a:solidFill>
                        <a:srgbClr val="CCDAD5"/>
                      </a:solidFill>
                      <a:prstDash val="solid"/>
                    </a:lnL>
                    <a:lnR w="6668">
                      <a:solidFill>
                        <a:srgbClr val="CCDAD5"/>
                      </a:solidFill>
                      <a:prstDash val="solid"/>
                    </a:lnR>
                    <a:lnB w="6668">
                      <a:solidFill>
                        <a:srgbClr val="CCDAD5"/>
                      </a:solidFill>
                      <a:prstDash val="solid"/>
                    </a:lnB>
                    <a:solidFill>
                      <a:srgbClr val="FFFFFF"/>
                    </a:solidFill>
                  </a:tcPr>
                </a:tc>
                <a:tc>
                  <a:txBody>
                    <a:bodyPr lIns="95250" tIns="95250" rIns="95250" bIns="95250">
                      <a:noAutofit/>
                    </a:bodyPr>
                    <a:lstStyle/>
                    <a:p>
                      <a:r>
                        <a:rPr sz="1725" b="0">
                          <a:solidFill>
                            <a:srgbClr val="17332F"/>
                          </a:solidFill>
                          <a:latin typeface="Arial"/>
                          <a:ea typeface="Arial"/>
                          <a:cs typeface="Arial"/>
                        </a:rPr>
                        <a:t>Resend</a:t>
                      </a:r>
                    </a:p>
                  </a:txBody>
                  <a:tcPr marL="91440" marR="91440" marT="45720" marB="45720" anchor="ctr">
                    <a:lnR w="6668">
                      <a:solidFill>
                        <a:srgbClr val="CCDAD5"/>
                      </a:solidFill>
                      <a:prstDash val="solid"/>
                    </a:lnR>
                    <a:lnB w="6668">
                      <a:solidFill>
                        <a:srgbClr val="CCDAD5"/>
                      </a:solidFill>
                      <a:prstDash val="solid"/>
                    </a:lnB>
                    <a:solidFill>
                      <a:srgbClr val="FFFFFF"/>
                    </a:solidFill>
                  </a:tcPr>
                </a:tc>
              </a:tr>
            </a:tbl>
          </a:graphicData>
        </a:graphic>
      </p:graphicFrame>
      <p:sp>
        <p:nvSpPr>
          <p:cNvPr id="5" name="text-29">
            <a:extLst xmlns:a="http://schemas.openxmlformats.org/drawingml/2006/main">
              <a:ext uri="{FF2B5EF4-FFF2-40B4-BE49-F238E27FC236}">
                <a16:creationId xmlns:a16="http://schemas.microsoft.com/office/drawing/2014/main" id="{5A6AB028-C993-41C2-908C-7F83F2B31860}"/>
              </a:ext>
            </a:extLst>
          </p:cNvPr>
          <p:cNvSpPr>
            <a:spLocks xmlns:a="http://schemas.openxmlformats.org/drawingml/2006/main" noGrp="1"/>
          </p:cNvSpPr>
          <p:nvPr/>
        </p:nvSpPr>
        <p:spPr>
          <a:xfrm xmlns:a="http://schemas.openxmlformats.org/drawingml/2006/main">
            <a:off x="7953375" y="15335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7C73"/>
                </a:solidFill>
                <a:latin typeface="Arial"/>
                <a:ea typeface="Arial"/>
                <a:cs typeface="Arial"/>
              </a:defRPr>
            </a:defPPr>
          </a:lstStyle>
          <a:p xmlns:a="http://schemas.openxmlformats.org/drawingml/2006/main">
            <a:pPr algn="l">
              <a:defRPr sz="2175" b="1">
                <a:solidFill>
                  <a:srgbClr val="137C73"/>
                </a:solidFill>
                <a:latin typeface="Arial"/>
                <a:ea typeface="Arial"/>
                <a:cs typeface="Arial"/>
              </a:defRPr>
            </a:pPr>
            <a:r>
              <a:rPr sz="2175" b="1">
                <a:solidFill>
                  <a:srgbClr val="137C73"/>
                </a:solidFill>
                <a:latin typeface="Arial"/>
                <a:ea typeface="Arial"/>
                <a:cs typeface="Arial"/>
              </a:rPr>
              <a:t>Why this stack?</a:t>
            </a:r>
          </a:p>
        </p:txBody>
      </p:sp>
      <p:sp>
        <p:nvSpPr>
          <p:cNvPr id="6" name="text-30">
            <a:extLst xmlns:a="http://schemas.openxmlformats.org/drawingml/2006/main">
              <a:ext uri="{FF2B5EF4-FFF2-40B4-BE49-F238E27FC236}">
                <a16:creationId xmlns:a16="http://schemas.microsoft.com/office/drawing/2014/main" id="{4C9A7B55-CBB7-4830-8573-78133254A2DF}"/>
              </a:ext>
            </a:extLst>
          </p:cNvPr>
          <p:cNvSpPr>
            <a:spLocks xmlns:a="http://schemas.openxmlformats.org/drawingml/2006/main" noGrp="1"/>
          </p:cNvSpPr>
          <p:nvPr/>
        </p:nvSpPr>
        <p:spPr>
          <a:xfrm xmlns:a="http://schemas.openxmlformats.org/drawingml/2006/main">
            <a:off x="7953375" y="218122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TypeScript supports consistent application contracts.</a:t>
            </a:r>
          </a:p>
        </p:txBody>
      </p:sp>
      <p:sp>
        <p:nvSpPr>
          <p:cNvPr id="7" name="text-31">
            <a:extLst xmlns:a="http://schemas.openxmlformats.org/drawingml/2006/main">
              <a:ext uri="{FF2B5EF4-FFF2-40B4-BE49-F238E27FC236}">
                <a16:creationId xmlns:a16="http://schemas.microsoft.com/office/drawing/2014/main" id="{4F34F955-8875-408A-B5C5-3F4DFFF7B1FF}"/>
              </a:ext>
            </a:extLst>
          </p:cNvPr>
          <p:cNvSpPr>
            <a:spLocks xmlns:a="http://schemas.openxmlformats.org/drawingml/2006/main" noGrp="1"/>
          </p:cNvSpPr>
          <p:nvPr/>
        </p:nvSpPr>
        <p:spPr>
          <a:xfrm xmlns:a="http://schemas.openxmlformats.org/drawingml/2006/main">
            <a:off x="7953375" y="323850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AWS separates compute, metadata and file storage.</a:t>
            </a:r>
          </a:p>
        </p:txBody>
      </p:sp>
      <p:sp>
        <p:nvSpPr>
          <p:cNvPr id="8" name="text-32">
            <a:extLst xmlns:a="http://schemas.openxmlformats.org/drawingml/2006/main">
              <a:ext uri="{FF2B5EF4-FFF2-40B4-BE49-F238E27FC236}">
                <a16:creationId xmlns:a16="http://schemas.microsoft.com/office/drawing/2014/main" id="{CD86A9C9-C06D-404F-84F5-14D1CFFE6D07}"/>
              </a:ext>
            </a:extLst>
          </p:cNvPr>
          <p:cNvSpPr>
            <a:spLocks xmlns:a="http://schemas.openxmlformats.org/drawingml/2006/main" noGrp="1"/>
          </p:cNvSpPr>
          <p:nvPr/>
        </p:nvSpPr>
        <p:spPr>
          <a:xfrm xmlns:a="http://schemas.openxmlformats.org/drawingml/2006/main">
            <a:off x="7953375" y="43148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Containers and CI make releases repeatable.</a:t>
            </a:r>
          </a:p>
        </p:txBody>
      </p:sp>
    </p:spTree>
    <p:extLst>
      <p:ext uri="{BB962C8B-B14F-4D97-AF65-F5344CB8AC3E}">
        <p14:creationId xmlns:p14="http://schemas.microsoft.com/office/powerpoint/2010/main" val="9167950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80C65F83-9831-431F-A440-E99AC3E1F66E}"/>
              </a:ext>
            </a:extLst>
          </p:cNvPr>
          <p:cNvCxnSpPr>
            <a:stCxn xmlns:a="http://schemas.openxmlformats.org/drawingml/2006/main" id="12" idx="3"/>
            <a:endCxn xmlns:a="http://schemas.openxmlformats.org/drawingml/2006/main" id="15" idx="1"/>
          </p:cNvCxnSpPr>
          <p:nvPr/>
        </p:nvCxnSpPr>
        <p:spPr>
          <a:xfrm xmlns:a="http://schemas.openxmlformats.org/drawingml/2006/main">
            <a:off x="9344025" y="2238375"/>
            <a:ext cx="257175" cy="0"/>
          </a:xfrm>
          <a:prstGeom xmlns:a="http://schemas.openxmlformats.org/drawingml/2006/main" prst="straightConnector1">
            <a:avLst/>
          </a:prstGeom>
          <a:ln xmlns:a="http://schemas.openxmlformats.org/drawingml/2006/main" w="15240">
            <a:solidFill>
              <a:srgbClr val="526561"/>
            </a:solidFill>
            <a:tailEnd type="triangle" w="sm" len="sm"/>
          </a:ln>
        </p:spPr>
      </p:cxnSp>
      <p:cxnSp>
        <p:nvCxnSpPr>
          <p:cNvPr id="14" name="">
            <a:extLst xmlns:a="http://schemas.openxmlformats.org/drawingml/2006/main">
              <a:ext uri="{FF2B5EF4-FFF2-40B4-BE49-F238E27FC236}">
                <a16:creationId xmlns:a16="http://schemas.microsoft.com/office/drawing/2014/main" id="{70159F38-F434-4222-B75F-1AE2AAFBA088}"/>
              </a:ext>
            </a:extLst>
          </p:cNvPr>
          <p:cNvCxnSpPr>
            <a:stCxn xmlns:a="http://schemas.openxmlformats.org/drawingml/2006/main" id="9" idx="3"/>
            <a:endCxn xmlns:a="http://schemas.openxmlformats.org/drawingml/2006/main" id="12" idx="1"/>
          </p:cNvCxnSpPr>
          <p:nvPr/>
        </p:nvCxnSpPr>
        <p:spPr>
          <a:xfrm xmlns:a="http://schemas.openxmlformats.org/drawingml/2006/main">
            <a:off x="7086600" y="2238375"/>
            <a:ext cx="257175" cy="0"/>
          </a:xfrm>
          <a:prstGeom xmlns:a="http://schemas.openxmlformats.org/drawingml/2006/main" prst="straightConnector1">
            <a:avLst/>
          </a:prstGeom>
          <a:ln xmlns:a="http://schemas.openxmlformats.org/drawingml/2006/main" w="15240">
            <a:solidFill>
              <a:srgbClr val="526561"/>
            </a:solidFill>
            <a:tailEnd type="triangle" w="sm" len="sm"/>
          </a:ln>
        </p:spPr>
      </p:cxnSp>
      <p:cxnSp>
        <p:nvCxnSpPr>
          <p:cNvPr id="11" name="">
            <a:extLst xmlns:a="http://schemas.openxmlformats.org/drawingml/2006/main">
              <a:ext uri="{FF2B5EF4-FFF2-40B4-BE49-F238E27FC236}">
                <a16:creationId xmlns:a16="http://schemas.microsoft.com/office/drawing/2014/main" id="{3592EEFF-A0D2-4153-B304-D4FB5FA2724F}"/>
              </a:ext>
            </a:extLst>
          </p:cNvPr>
          <p:cNvCxnSpPr>
            <a:stCxn xmlns:a="http://schemas.openxmlformats.org/drawingml/2006/main" id="6" idx="3"/>
            <a:endCxn xmlns:a="http://schemas.openxmlformats.org/drawingml/2006/main" id="9" idx="1"/>
          </p:cNvCxnSpPr>
          <p:nvPr/>
        </p:nvCxnSpPr>
        <p:spPr>
          <a:xfrm xmlns:a="http://schemas.openxmlformats.org/drawingml/2006/main">
            <a:off x="4829175" y="2238375"/>
            <a:ext cx="257175" cy="0"/>
          </a:xfrm>
          <a:prstGeom xmlns:a="http://schemas.openxmlformats.org/drawingml/2006/main" prst="straightConnector1">
            <a:avLst/>
          </a:prstGeom>
          <a:ln xmlns:a="http://schemas.openxmlformats.org/drawingml/2006/main" w="15240">
            <a:solidFill>
              <a:srgbClr val="526561"/>
            </a:solidFill>
            <a:tailEnd type="triangle" w="sm" len="sm"/>
          </a:ln>
        </p:spPr>
      </p:cxnSp>
      <p:cxnSp>
        <p:nvCxnSpPr>
          <p:cNvPr id="8" name="">
            <a:extLst xmlns:a="http://schemas.openxmlformats.org/drawingml/2006/main">
              <a:ext uri="{FF2B5EF4-FFF2-40B4-BE49-F238E27FC236}">
                <a16:creationId xmlns:a16="http://schemas.microsoft.com/office/drawing/2014/main" id="{3ECD8E60-EA46-4C94-AF17-BBE090813C34}"/>
              </a:ext>
            </a:extLst>
          </p:cNvPr>
          <p:cNvCxnSpPr>
            <a:stCxn xmlns:a="http://schemas.openxmlformats.org/drawingml/2006/main" id="4" idx="3"/>
            <a:endCxn xmlns:a="http://schemas.openxmlformats.org/drawingml/2006/main" id="6" idx="1"/>
          </p:cNvCxnSpPr>
          <p:nvPr/>
        </p:nvCxnSpPr>
        <p:spPr>
          <a:xfrm xmlns:a="http://schemas.openxmlformats.org/drawingml/2006/main">
            <a:off x="2571750" y="2238375"/>
            <a:ext cx="257175" cy="0"/>
          </a:xfrm>
          <a:prstGeom xmlns:a="http://schemas.openxmlformats.org/drawingml/2006/main" prst="straightConnector1">
            <a:avLst/>
          </a:prstGeom>
          <a:ln xmlns:a="http://schemas.openxmlformats.org/drawingml/2006/main" w="15240">
            <a:solidFill>
              <a:srgbClr val="526561"/>
            </a:solidFill>
            <a:tailEnd type="triangle" w="sm" len="sm"/>
          </a:ln>
        </p:spPr>
      </p:cxnSp>
      <p:sp>
        <p:nvSpPr>
          <p:cNvPr id="21" name="text-33">
            <a:extLst xmlns:a="http://schemas.openxmlformats.org/drawingml/2006/main">
              <a:ext uri="{FF2B5EF4-FFF2-40B4-BE49-F238E27FC236}">
                <a16:creationId xmlns:a16="http://schemas.microsoft.com/office/drawing/2014/main" id="{064407AD-8636-4208-8AD3-D5C64FC2566D}"/>
              </a:ext>
            </a:extLst>
          </p:cNvPr>
          <p:cNvSpPr>
            <a:spLocks xmlns:a="http://schemas.openxmlformats.org/drawingml/2006/main" noGrp="1"/>
          </p:cNvSpPr>
          <p:nvPr/>
        </p:nvSpPr>
        <p:spPr>
          <a:xfrm xmlns:a="http://schemas.openxmlformats.org/drawingml/2006/main">
            <a:off x="571500" y="38100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7332F"/>
                </a:solidFill>
                <a:latin typeface="Arial"/>
                <a:ea typeface="Arial"/>
                <a:cs typeface="Arial"/>
              </a:defRPr>
            </a:defPPr>
          </a:lstStyle>
          <a:p xmlns:a="http://schemas.openxmlformats.org/drawingml/2006/main">
            <a:pPr algn="l">
              <a:defRPr sz="3000" b="1">
                <a:solidFill>
                  <a:srgbClr val="17332F"/>
                </a:solidFill>
                <a:latin typeface="Arial"/>
                <a:ea typeface="Arial"/>
                <a:cs typeface="Arial"/>
              </a:defRPr>
            </a:pPr>
            <a:r>
              <a:rPr sz="3000" b="1">
                <a:solidFill>
                  <a:srgbClr val="17332F"/>
                </a:solidFill>
                <a:latin typeface="Arial"/>
                <a:ea typeface="Arial"/>
                <a:cs typeface="Arial"/>
              </a:rPr>
              <a:t>From Code to Cloud</a:t>
            </a:r>
          </a:p>
        </p:txBody>
      </p:sp>
      <p:sp>
        <p:nvSpPr>
          <p:cNvPr id="2" name="">
            <a:extLst xmlns:a="http://schemas.openxmlformats.org/drawingml/2006/main">
              <a:ext uri="{FF2B5EF4-FFF2-40B4-BE49-F238E27FC236}">
                <a16:creationId xmlns:a16="http://schemas.microsoft.com/office/drawing/2014/main" id="{73C1BDC0-E301-46E7-857F-96C439CE60C7}"/>
              </a:ext>
            </a:extLst>
          </p:cNvPr>
          <p:cNvSpPr>
            <a:spLocks xmlns:a="http://schemas.openxmlformats.org/drawingml/2006/main" noGrp="1"/>
          </p:cNvSpPr>
          <p:nvPr/>
        </p:nvSpPr>
        <p:spPr>
          <a:xfrm xmlns:a="http://schemas.openxmlformats.org/drawingml/2006/main">
            <a:off x="571500" y="1095375"/>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3" name="text-34">
            <a:extLst xmlns:a="http://schemas.openxmlformats.org/drawingml/2006/main">
              <a:ext uri="{FF2B5EF4-FFF2-40B4-BE49-F238E27FC236}">
                <a16:creationId xmlns:a16="http://schemas.microsoft.com/office/drawing/2014/main" id="{B7BEF039-2C20-4D27-A690-ECBC447AB48D}"/>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71807C"/>
                </a:solidFill>
                <a:latin typeface="Arial"/>
                <a:ea typeface="Arial"/>
                <a:cs typeface="Arial"/>
              </a:defRPr>
            </a:defPPr>
          </a:lstStyle>
          <a:p xmlns:a="http://schemas.openxmlformats.org/drawingml/2006/main">
            <a:pPr algn="r">
              <a:defRPr sz="1125" b="0">
                <a:solidFill>
                  <a:srgbClr val="71807C"/>
                </a:solidFill>
                <a:latin typeface="Arial"/>
                <a:ea typeface="Arial"/>
                <a:cs typeface="Arial"/>
              </a:defRPr>
            </a:pPr>
            <a:r>
              <a:rPr sz="1125" b="0">
                <a:solidFill>
                  <a:srgbClr val="71807C"/>
                </a:solidFill>
                <a:latin typeface="Arial"/>
                <a:ea typeface="Arial"/>
                <a:cs typeface="Arial"/>
              </a:rPr>
              <a:t>05</a:t>
            </a:r>
          </a:p>
        </p:txBody>
      </p:sp>
      <p:sp>
        <p:nvSpPr>
          <p:cNvPr id="4" name="workflow-0">
            <a:extLst xmlns:a="http://schemas.openxmlformats.org/drawingml/2006/main">
              <a:ext uri="{FF2B5EF4-FFF2-40B4-BE49-F238E27FC236}">
                <a16:creationId xmlns:a16="http://schemas.microsoft.com/office/drawing/2014/main" id="{7E8FF6A7-096F-4A6C-88F8-F55CF7990961}"/>
              </a:ext>
            </a:extLst>
          </p:cNvPr>
          <p:cNvSpPr>
            <a:spLocks xmlns:a="http://schemas.openxmlformats.org/drawingml/2006/main" noGrp="1"/>
          </p:cNvSpPr>
          <p:nvPr/>
        </p:nvSpPr>
        <p:spPr>
          <a:xfrm xmlns:a="http://schemas.openxmlformats.org/drawingml/2006/main">
            <a:off x="571500" y="1762125"/>
            <a:ext cx="200025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137C73"/>
            </a:solidFill>
          </a:ln>
        </p:spPr>
        <p:txBody>
          <a:bodyPr xmlns:a="http://schemas.openxmlformats.org/drawingml/2006/main" lIns="57150" tIns="57150" rIns="57150" bIns="57150" anchor="ctr"/>
          <a:lstStyle xmlns:a="http://schemas.openxmlformats.org/drawingml/2006/main">
            <a:defPPr algn="ctr">
              <a:defRPr sz="1875" b="1">
                <a:solidFill>
                  <a:srgbClr val="17332F"/>
                </a:solidFill>
                <a:latin typeface="Arial"/>
                <a:ea typeface="Arial"/>
                <a:cs typeface="Arial"/>
              </a:defRPr>
            </a:defPPr>
          </a:lstStyle>
          <a:p xmlns:a="http://schemas.openxmlformats.org/drawingml/2006/main">
            <a:pPr algn="ctr">
              <a:defRPr sz="1875" b="1">
                <a:solidFill>
                  <a:srgbClr val="17332F"/>
                </a:solidFill>
                <a:latin typeface="Arial"/>
                <a:ea typeface="Arial"/>
                <a:cs typeface="Arial"/>
              </a:defRPr>
            </a:pPr>
            <a:r>
              <a:rPr sz="1875" b="1">
                <a:solidFill>
                  <a:srgbClr val="17332F"/>
                </a:solidFill>
                <a:latin typeface="Arial"/>
                <a:ea typeface="Arial"/>
                <a:cs typeface="Arial"/>
              </a:rPr>
              <a:t>GitHub</a:t>
            </a:r>
          </a:p>
        </p:txBody>
      </p:sp>
      <p:sp>
        <p:nvSpPr>
          <p:cNvPr id="5" name="text-35">
            <a:extLst xmlns:a="http://schemas.openxmlformats.org/drawingml/2006/main">
              <a:ext uri="{FF2B5EF4-FFF2-40B4-BE49-F238E27FC236}">
                <a16:creationId xmlns:a16="http://schemas.microsoft.com/office/drawing/2014/main" id="{E7ED7E91-C533-4E0E-AF5C-844E69ADCB07}"/>
              </a:ext>
            </a:extLst>
          </p:cNvPr>
          <p:cNvSpPr>
            <a:spLocks xmlns:a="http://schemas.openxmlformats.org/drawingml/2006/main" noGrp="1"/>
          </p:cNvSpPr>
          <p:nvPr/>
        </p:nvSpPr>
        <p:spPr>
          <a:xfrm xmlns:a="http://schemas.openxmlformats.org/drawingml/2006/main">
            <a:off x="571500" y="2914650"/>
            <a:ext cx="200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6561"/>
                </a:solidFill>
                <a:latin typeface="Arial"/>
                <a:ea typeface="Arial"/>
                <a:cs typeface="Arial"/>
              </a:defRPr>
            </a:defPPr>
          </a:lstStyle>
          <a:p xmlns:a="http://schemas.openxmlformats.org/drawingml/2006/main">
            <a:pPr algn="ctr">
              <a:defRPr sz="1575" b="0">
                <a:solidFill>
                  <a:srgbClr val="526561"/>
                </a:solidFill>
                <a:latin typeface="Arial"/>
                <a:ea typeface="Arial"/>
                <a:cs typeface="Arial"/>
              </a:defRPr>
            </a:pPr>
            <a:r>
              <a:rPr sz="1575" b="0">
                <a:solidFill>
                  <a:srgbClr val="526561"/>
                </a:solidFill>
                <a:latin typeface="Arial"/>
                <a:ea typeface="Arial"/>
                <a:cs typeface="Arial"/>
              </a:rPr>
              <a:t>Code and pull requests</a:t>
            </a:r>
          </a:p>
        </p:txBody>
      </p:sp>
      <p:sp>
        <p:nvSpPr>
          <p:cNvPr id="6" name="workflow-1">
            <a:extLst xmlns:a="http://schemas.openxmlformats.org/drawingml/2006/main">
              <a:ext uri="{FF2B5EF4-FFF2-40B4-BE49-F238E27FC236}">
                <a16:creationId xmlns:a16="http://schemas.microsoft.com/office/drawing/2014/main" id="{F5E79220-5F74-40EC-ADED-E6D76A0148D9}"/>
              </a:ext>
            </a:extLst>
          </p:cNvPr>
          <p:cNvSpPr>
            <a:spLocks xmlns:a="http://schemas.openxmlformats.org/drawingml/2006/main" noGrp="1"/>
          </p:cNvSpPr>
          <p:nvPr/>
        </p:nvSpPr>
        <p:spPr>
          <a:xfrm xmlns:a="http://schemas.openxmlformats.org/drawingml/2006/main">
            <a:off x="2828925" y="1762125"/>
            <a:ext cx="200025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137C73"/>
            </a:solidFill>
          </a:ln>
        </p:spPr>
        <p:txBody>
          <a:bodyPr xmlns:a="http://schemas.openxmlformats.org/drawingml/2006/main" lIns="57150" tIns="57150" rIns="57150" bIns="57150" anchor="ctr"/>
          <a:lstStyle xmlns:a="http://schemas.openxmlformats.org/drawingml/2006/main">
            <a:defPPr algn="ctr">
              <a:defRPr sz="1875" b="1">
                <a:solidFill>
                  <a:srgbClr val="17332F"/>
                </a:solidFill>
                <a:latin typeface="Arial"/>
                <a:ea typeface="Arial"/>
                <a:cs typeface="Arial"/>
              </a:defRPr>
            </a:defPPr>
          </a:lstStyle>
          <a:p xmlns:a="http://schemas.openxmlformats.org/drawingml/2006/main">
            <a:pPr algn="ctr">
              <a:defRPr sz="1875" b="1">
                <a:solidFill>
                  <a:srgbClr val="17332F"/>
                </a:solidFill>
                <a:latin typeface="Arial"/>
                <a:ea typeface="Arial"/>
                <a:cs typeface="Arial"/>
              </a:defRPr>
            </a:pPr>
            <a:r>
              <a:rPr sz="1875" b="1">
                <a:solidFill>
                  <a:srgbClr val="17332F"/>
                </a:solidFill>
                <a:latin typeface="Arial"/>
                <a:ea typeface="Arial"/>
                <a:cs typeface="Arial"/>
              </a:rPr>
              <a:t>GitHub Actions</a:t>
            </a:r>
          </a:p>
        </p:txBody>
      </p:sp>
      <p:sp>
        <p:nvSpPr>
          <p:cNvPr id="7" name="text-36">
            <a:extLst xmlns:a="http://schemas.openxmlformats.org/drawingml/2006/main">
              <a:ext uri="{FF2B5EF4-FFF2-40B4-BE49-F238E27FC236}">
                <a16:creationId xmlns:a16="http://schemas.microsoft.com/office/drawing/2014/main" id="{BA1A43E8-E0C1-41AE-BE31-063EFDB65A2D}"/>
              </a:ext>
            </a:extLst>
          </p:cNvPr>
          <p:cNvSpPr>
            <a:spLocks xmlns:a="http://schemas.openxmlformats.org/drawingml/2006/main" noGrp="1"/>
          </p:cNvSpPr>
          <p:nvPr/>
        </p:nvSpPr>
        <p:spPr>
          <a:xfrm xmlns:a="http://schemas.openxmlformats.org/drawingml/2006/main">
            <a:off x="2828925" y="2914650"/>
            <a:ext cx="200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6561"/>
                </a:solidFill>
                <a:latin typeface="Arial"/>
                <a:ea typeface="Arial"/>
                <a:cs typeface="Arial"/>
              </a:defRPr>
            </a:defPPr>
          </a:lstStyle>
          <a:p xmlns:a="http://schemas.openxmlformats.org/drawingml/2006/main">
            <a:pPr algn="ctr">
              <a:defRPr sz="1575" b="0">
                <a:solidFill>
                  <a:srgbClr val="526561"/>
                </a:solidFill>
                <a:latin typeface="Arial"/>
                <a:ea typeface="Arial"/>
                <a:cs typeface="Arial"/>
              </a:defRPr>
            </a:pPr>
            <a:r>
              <a:rPr sz="1575" b="0">
                <a:solidFill>
                  <a:srgbClr val="526561"/>
                </a:solidFill>
                <a:latin typeface="Arial"/>
                <a:ea typeface="Arial"/>
                <a:cs typeface="Arial"/>
              </a:rPr>
              <a:t>Validate and test</a:t>
            </a:r>
          </a:p>
        </p:txBody>
      </p:sp>
      <p:sp>
        <p:nvSpPr>
          <p:cNvPr id="9" name="workflow-2">
            <a:extLst xmlns:a="http://schemas.openxmlformats.org/drawingml/2006/main">
              <a:ext uri="{FF2B5EF4-FFF2-40B4-BE49-F238E27FC236}">
                <a16:creationId xmlns:a16="http://schemas.microsoft.com/office/drawing/2014/main" id="{E21E01F0-704E-4C0F-B2A1-B778F40B0D9B}"/>
              </a:ext>
            </a:extLst>
          </p:cNvPr>
          <p:cNvSpPr>
            <a:spLocks xmlns:a="http://schemas.openxmlformats.org/drawingml/2006/main" noGrp="1"/>
          </p:cNvSpPr>
          <p:nvPr/>
        </p:nvSpPr>
        <p:spPr>
          <a:xfrm xmlns:a="http://schemas.openxmlformats.org/drawingml/2006/main">
            <a:off x="5086350" y="1762125"/>
            <a:ext cx="200025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137C73"/>
            </a:solidFill>
          </a:ln>
        </p:spPr>
        <p:txBody>
          <a:bodyPr xmlns:a="http://schemas.openxmlformats.org/drawingml/2006/main" lIns="57150" tIns="57150" rIns="57150" bIns="57150" anchor="ctr"/>
          <a:lstStyle xmlns:a="http://schemas.openxmlformats.org/drawingml/2006/main">
            <a:defPPr algn="ctr">
              <a:defRPr sz="1875" b="1">
                <a:solidFill>
                  <a:srgbClr val="17332F"/>
                </a:solidFill>
                <a:latin typeface="Arial"/>
                <a:ea typeface="Arial"/>
                <a:cs typeface="Arial"/>
              </a:defRPr>
            </a:defPPr>
          </a:lstStyle>
          <a:p xmlns:a="http://schemas.openxmlformats.org/drawingml/2006/main">
            <a:pPr algn="ctr">
              <a:defRPr sz="1875" b="1">
                <a:solidFill>
                  <a:srgbClr val="17332F"/>
                </a:solidFill>
                <a:latin typeface="Arial"/>
                <a:ea typeface="Arial"/>
                <a:cs typeface="Arial"/>
              </a:defRPr>
            </a:pPr>
            <a:r>
              <a:rPr sz="1875" b="1">
                <a:solidFill>
                  <a:srgbClr val="17332F"/>
                </a:solidFill>
                <a:latin typeface="Arial"/>
                <a:ea typeface="Arial"/>
                <a:cs typeface="Arial"/>
              </a:rPr>
              <a:t>GHCR</a:t>
            </a:r>
          </a:p>
        </p:txBody>
      </p:sp>
      <p:sp>
        <p:nvSpPr>
          <p:cNvPr id="10" name="text-37">
            <a:extLst xmlns:a="http://schemas.openxmlformats.org/drawingml/2006/main">
              <a:ext uri="{FF2B5EF4-FFF2-40B4-BE49-F238E27FC236}">
                <a16:creationId xmlns:a16="http://schemas.microsoft.com/office/drawing/2014/main" id="{8DD86EFA-5FC9-48C1-8D26-590F2831E779}"/>
              </a:ext>
            </a:extLst>
          </p:cNvPr>
          <p:cNvSpPr>
            <a:spLocks xmlns:a="http://schemas.openxmlformats.org/drawingml/2006/main" noGrp="1"/>
          </p:cNvSpPr>
          <p:nvPr/>
        </p:nvSpPr>
        <p:spPr>
          <a:xfrm xmlns:a="http://schemas.openxmlformats.org/drawingml/2006/main">
            <a:off x="5086350" y="2914650"/>
            <a:ext cx="200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6561"/>
                </a:solidFill>
                <a:latin typeface="Arial"/>
                <a:ea typeface="Arial"/>
                <a:cs typeface="Arial"/>
              </a:defRPr>
            </a:defPPr>
          </a:lstStyle>
          <a:p xmlns:a="http://schemas.openxmlformats.org/drawingml/2006/main">
            <a:pPr algn="ctr">
              <a:defRPr sz="1575" b="0">
                <a:solidFill>
                  <a:srgbClr val="526561"/>
                </a:solidFill>
                <a:latin typeface="Arial"/>
                <a:ea typeface="Arial"/>
                <a:cs typeface="Arial"/>
              </a:defRPr>
            </a:pPr>
            <a:r>
              <a:rPr sz="1575" b="0">
                <a:solidFill>
                  <a:srgbClr val="526561"/>
                </a:solidFill>
                <a:latin typeface="Arial"/>
                <a:ea typeface="Arial"/>
                <a:cs typeface="Arial"/>
              </a:rPr>
              <a:t>Build and publish images</a:t>
            </a:r>
          </a:p>
        </p:txBody>
      </p:sp>
      <p:sp>
        <p:nvSpPr>
          <p:cNvPr id="12" name="workflow-3">
            <a:extLst xmlns:a="http://schemas.openxmlformats.org/drawingml/2006/main">
              <a:ext uri="{FF2B5EF4-FFF2-40B4-BE49-F238E27FC236}">
                <a16:creationId xmlns:a16="http://schemas.microsoft.com/office/drawing/2014/main" id="{1B5F331E-6A75-4981-8F70-A913D707F1D0}"/>
              </a:ext>
            </a:extLst>
          </p:cNvPr>
          <p:cNvSpPr>
            <a:spLocks xmlns:a="http://schemas.openxmlformats.org/drawingml/2006/main" noGrp="1"/>
          </p:cNvSpPr>
          <p:nvPr/>
        </p:nvSpPr>
        <p:spPr>
          <a:xfrm xmlns:a="http://schemas.openxmlformats.org/drawingml/2006/main">
            <a:off x="7343775" y="1762125"/>
            <a:ext cx="200025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137C73"/>
            </a:solidFill>
          </a:ln>
        </p:spPr>
        <p:txBody>
          <a:bodyPr xmlns:a="http://schemas.openxmlformats.org/drawingml/2006/main" lIns="57150" tIns="57150" rIns="57150" bIns="57150" anchor="ctr"/>
          <a:lstStyle xmlns:a="http://schemas.openxmlformats.org/drawingml/2006/main">
            <a:defPPr algn="ctr">
              <a:defRPr sz="1875" b="1">
                <a:solidFill>
                  <a:srgbClr val="17332F"/>
                </a:solidFill>
                <a:latin typeface="Arial"/>
                <a:ea typeface="Arial"/>
                <a:cs typeface="Arial"/>
              </a:defRPr>
            </a:defPPr>
          </a:lstStyle>
          <a:p xmlns:a="http://schemas.openxmlformats.org/drawingml/2006/main">
            <a:pPr algn="ctr">
              <a:defRPr sz="1875" b="1">
                <a:solidFill>
                  <a:srgbClr val="17332F"/>
                </a:solidFill>
                <a:latin typeface="Arial"/>
                <a:ea typeface="Arial"/>
                <a:cs typeface="Arial"/>
              </a:defRPr>
            </a:pPr>
            <a:r>
              <a:rPr sz="1875" b="1">
                <a:solidFill>
                  <a:srgbClr val="17332F"/>
                </a:solidFill>
                <a:latin typeface="Arial"/>
                <a:ea typeface="Arial"/>
                <a:cs typeface="Arial"/>
              </a:rPr>
              <a:t>Deployment</a:t>
            </a:r>
          </a:p>
        </p:txBody>
      </p:sp>
      <p:sp>
        <p:nvSpPr>
          <p:cNvPr id="13" name="text-38">
            <a:extLst xmlns:a="http://schemas.openxmlformats.org/drawingml/2006/main">
              <a:ext uri="{FF2B5EF4-FFF2-40B4-BE49-F238E27FC236}">
                <a16:creationId xmlns:a16="http://schemas.microsoft.com/office/drawing/2014/main" id="{127A1671-DD7A-4985-9ADC-A091E5EDECDF}"/>
              </a:ext>
            </a:extLst>
          </p:cNvPr>
          <p:cNvSpPr>
            <a:spLocks xmlns:a="http://schemas.openxmlformats.org/drawingml/2006/main" noGrp="1"/>
          </p:cNvSpPr>
          <p:nvPr/>
        </p:nvSpPr>
        <p:spPr>
          <a:xfrm xmlns:a="http://schemas.openxmlformats.org/drawingml/2006/main">
            <a:off x="7343775" y="2914650"/>
            <a:ext cx="200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6561"/>
                </a:solidFill>
                <a:latin typeface="Arial"/>
                <a:ea typeface="Arial"/>
                <a:cs typeface="Arial"/>
              </a:defRPr>
            </a:defPPr>
          </a:lstStyle>
          <a:p xmlns:a="http://schemas.openxmlformats.org/drawingml/2006/main">
            <a:pPr algn="ctr">
              <a:defRPr sz="1575" b="0">
                <a:solidFill>
                  <a:srgbClr val="526561"/>
                </a:solidFill>
                <a:latin typeface="Arial"/>
                <a:ea typeface="Arial"/>
                <a:cs typeface="Arial"/>
              </a:defRPr>
            </a:pPr>
            <a:r>
              <a:rPr sz="1575" b="0">
                <a:solidFill>
                  <a:srgbClr val="526561"/>
                </a:solidFill>
                <a:latin typeface="Arial"/>
                <a:ea typeface="Arial"/>
                <a:cs typeface="Arial"/>
              </a:rPr>
              <a:t>AWS SSM Run Command</a:t>
            </a:r>
          </a:p>
        </p:txBody>
      </p:sp>
      <p:sp>
        <p:nvSpPr>
          <p:cNvPr id="15" name="workflow-4">
            <a:extLst xmlns:a="http://schemas.openxmlformats.org/drawingml/2006/main">
              <a:ext uri="{FF2B5EF4-FFF2-40B4-BE49-F238E27FC236}">
                <a16:creationId xmlns:a16="http://schemas.microsoft.com/office/drawing/2014/main" id="{100C87E0-C778-4BD1-9A19-DCDD0100CCAF}"/>
              </a:ext>
            </a:extLst>
          </p:cNvPr>
          <p:cNvSpPr>
            <a:spLocks xmlns:a="http://schemas.openxmlformats.org/drawingml/2006/main" noGrp="1"/>
          </p:cNvSpPr>
          <p:nvPr/>
        </p:nvSpPr>
        <p:spPr>
          <a:xfrm xmlns:a="http://schemas.openxmlformats.org/drawingml/2006/main">
            <a:off x="9601200" y="1762125"/>
            <a:ext cx="200025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137C73"/>
            </a:solidFill>
          </a:ln>
        </p:spPr>
        <p:txBody>
          <a:bodyPr xmlns:a="http://schemas.openxmlformats.org/drawingml/2006/main" lIns="57150" tIns="57150" rIns="57150" bIns="57150" anchor="ctr"/>
          <a:lstStyle xmlns:a="http://schemas.openxmlformats.org/drawingml/2006/main">
            <a:defPPr algn="ctr">
              <a:defRPr sz="1875" b="1">
                <a:solidFill>
                  <a:srgbClr val="17332F"/>
                </a:solidFill>
                <a:latin typeface="Arial"/>
                <a:ea typeface="Arial"/>
                <a:cs typeface="Arial"/>
              </a:defRPr>
            </a:defPPr>
          </a:lstStyle>
          <a:p xmlns:a="http://schemas.openxmlformats.org/drawingml/2006/main">
            <a:pPr algn="ctr">
              <a:defRPr sz="1875" b="1">
                <a:solidFill>
                  <a:srgbClr val="17332F"/>
                </a:solidFill>
                <a:latin typeface="Arial"/>
                <a:ea typeface="Arial"/>
                <a:cs typeface="Arial"/>
              </a:defRPr>
            </a:pPr>
            <a:r>
              <a:rPr sz="1875" b="1">
                <a:solidFill>
                  <a:srgbClr val="17332F"/>
                </a:solidFill>
                <a:latin typeface="Arial"/>
                <a:ea typeface="Arial"/>
                <a:cs typeface="Arial"/>
              </a:rPr>
              <a:t>Amazon EC2</a:t>
            </a:r>
          </a:p>
        </p:txBody>
      </p:sp>
      <p:sp>
        <p:nvSpPr>
          <p:cNvPr id="16" name="text-39">
            <a:extLst xmlns:a="http://schemas.openxmlformats.org/drawingml/2006/main">
              <a:ext uri="{FF2B5EF4-FFF2-40B4-BE49-F238E27FC236}">
                <a16:creationId xmlns:a16="http://schemas.microsoft.com/office/drawing/2014/main" id="{18B1C597-924F-4AA5-87B0-074625D47170}"/>
              </a:ext>
            </a:extLst>
          </p:cNvPr>
          <p:cNvSpPr>
            <a:spLocks xmlns:a="http://schemas.openxmlformats.org/drawingml/2006/main" noGrp="1"/>
          </p:cNvSpPr>
          <p:nvPr/>
        </p:nvSpPr>
        <p:spPr>
          <a:xfrm xmlns:a="http://schemas.openxmlformats.org/drawingml/2006/main">
            <a:off x="9601200" y="2914650"/>
            <a:ext cx="200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6561"/>
                </a:solidFill>
                <a:latin typeface="Arial"/>
                <a:ea typeface="Arial"/>
                <a:cs typeface="Arial"/>
              </a:defRPr>
            </a:defPPr>
          </a:lstStyle>
          <a:p xmlns:a="http://schemas.openxmlformats.org/drawingml/2006/main">
            <a:pPr algn="ctr">
              <a:defRPr sz="1575" b="0">
                <a:solidFill>
                  <a:srgbClr val="526561"/>
                </a:solidFill>
                <a:latin typeface="Arial"/>
                <a:ea typeface="Arial"/>
                <a:cs typeface="Arial"/>
              </a:defRPr>
            </a:pPr>
            <a:r>
              <a:rPr sz="1575" b="0">
                <a:solidFill>
                  <a:srgbClr val="526561"/>
                </a:solidFill>
                <a:latin typeface="Arial"/>
                <a:ea typeface="Arial"/>
                <a:cs typeface="Arial"/>
              </a:rPr>
              <a:t>Docker Compose release</a:t>
            </a:r>
          </a:p>
        </p:txBody>
      </p:sp>
      <p:sp>
        <p:nvSpPr>
          <p:cNvPr id="18" name="text-40">
            <a:extLst xmlns:a="http://schemas.openxmlformats.org/drawingml/2006/main">
              <a:ext uri="{FF2B5EF4-FFF2-40B4-BE49-F238E27FC236}">
                <a16:creationId xmlns:a16="http://schemas.microsoft.com/office/drawing/2014/main" id="{835F71F8-C2B5-477D-8926-568444662D56}"/>
              </a:ext>
            </a:extLst>
          </p:cNvPr>
          <p:cNvSpPr>
            <a:spLocks xmlns:a="http://schemas.openxmlformats.org/drawingml/2006/main" noGrp="1"/>
          </p:cNvSpPr>
          <p:nvPr/>
        </p:nvSpPr>
        <p:spPr>
          <a:xfrm xmlns:a="http://schemas.openxmlformats.org/drawingml/2006/main">
            <a:off x="571500" y="40767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7C73"/>
                </a:solidFill>
                <a:latin typeface="Arial"/>
                <a:ea typeface="Arial"/>
                <a:cs typeface="Arial"/>
              </a:defRPr>
            </a:defPPr>
          </a:lstStyle>
          <a:p xmlns:a="http://schemas.openxmlformats.org/drawingml/2006/main">
            <a:pPr algn="l">
              <a:defRPr sz="2400" b="1">
                <a:solidFill>
                  <a:srgbClr val="137C73"/>
                </a:solidFill>
                <a:latin typeface="Arial"/>
                <a:ea typeface="Arial"/>
                <a:cs typeface="Arial"/>
              </a:defRPr>
            </a:pPr>
            <a:r>
              <a:rPr sz="2400" b="1">
                <a:solidFill>
                  <a:srgbClr val="137C73"/>
                </a:solidFill>
                <a:latin typeface="Arial"/>
                <a:ea typeface="Arial"/>
                <a:cs typeface="Arial"/>
              </a:rPr>
              <a:t>Automatic deployment on main</a:t>
            </a:r>
          </a:p>
        </p:txBody>
      </p:sp>
      <p:sp>
        <p:nvSpPr>
          <p:cNvPr id="19" name="text-41">
            <a:extLst xmlns:a="http://schemas.openxmlformats.org/drawingml/2006/main">
              <a:ext uri="{FF2B5EF4-FFF2-40B4-BE49-F238E27FC236}">
                <a16:creationId xmlns:a16="http://schemas.microsoft.com/office/drawing/2014/main" id="{A7FC5F66-697C-4FEF-AEFB-5E3AACE8F846}"/>
              </a:ext>
            </a:extLst>
          </p:cNvPr>
          <p:cNvSpPr>
            <a:spLocks xmlns:a="http://schemas.openxmlformats.org/drawingml/2006/main" noGrp="1"/>
          </p:cNvSpPr>
          <p:nvPr/>
        </p:nvSpPr>
        <p:spPr>
          <a:xfrm xmlns:a="http://schemas.openxmlformats.org/drawingml/2006/main">
            <a:off x="571500" y="46386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32F"/>
                </a:solidFill>
                <a:latin typeface="Arial"/>
                <a:ea typeface="Arial"/>
                <a:cs typeface="Arial"/>
              </a:defRPr>
            </a:defPPr>
          </a:lstStyle>
          <a:p xmlns:a="http://schemas.openxmlformats.org/drawingml/2006/main">
            <a:pPr algn="l">
              <a:defRPr sz="2100" b="0">
                <a:solidFill>
                  <a:srgbClr val="17332F"/>
                </a:solidFill>
                <a:latin typeface="Arial"/>
                <a:ea typeface="Arial"/>
                <a:cs typeface="Arial"/>
              </a:defRPr>
            </a:pPr>
            <a:r>
              <a:rPr sz="2100" b="0">
                <a:solidFill>
                  <a:srgbClr val="17332F"/>
                </a:solidFill>
                <a:latin typeface="Arial"/>
                <a:ea typeface="Arial"/>
                <a:cs typeface="Arial"/>
              </a:rPr>
              <a:t>Both backend and frontend CI must pass for the same commit before deployment selects matching image tags.</a:t>
            </a:r>
          </a:p>
        </p:txBody>
      </p:sp>
      <p:sp>
        <p:nvSpPr>
          <p:cNvPr id="20" name="text-42">
            <a:extLst xmlns:a="http://schemas.openxmlformats.org/drawingml/2006/main">
              <a:ext uri="{FF2B5EF4-FFF2-40B4-BE49-F238E27FC236}">
                <a16:creationId xmlns:a16="http://schemas.microsoft.com/office/drawing/2014/main" id="{7FAB5172-EC12-4129-88F3-4F68DD5EC524}"/>
              </a:ext>
            </a:extLst>
          </p:cNvPr>
          <p:cNvSpPr>
            <a:spLocks xmlns:a="http://schemas.openxmlformats.org/drawingml/2006/main" noGrp="1"/>
          </p:cNvSpPr>
          <p:nvPr/>
        </p:nvSpPr>
        <p:spPr>
          <a:xfrm xmlns:a="http://schemas.openxmlformats.org/drawingml/2006/main">
            <a:off x="571500" y="57150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561"/>
                </a:solidFill>
                <a:latin typeface="Arial"/>
                <a:ea typeface="Arial"/>
                <a:cs typeface="Arial"/>
              </a:defRPr>
            </a:defPPr>
          </a:lstStyle>
          <a:p xmlns:a="http://schemas.openxmlformats.org/drawingml/2006/main">
            <a:pPr algn="l">
              <a:defRPr sz="1725" b="0">
                <a:solidFill>
                  <a:srgbClr val="526561"/>
                </a:solidFill>
                <a:latin typeface="Arial"/>
                <a:ea typeface="Arial"/>
                <a:cs typeface="Arial"/>
              </a:defRPr>
            </a:pPr>
            <a:r>
              <a:rPr sz="1725" b="0">
                <a:solidFill>
                  <a:srgbClr val="526561"/>
                </a:solidFill>
                <a:latin typeface="Arial"/>
                <a:ea typeface="Arial"/>
                <a:cs typeface="Arial"/>
              </a:rPr>
              <a:t>Manual deployment with selected image tags is also available.</a:t>
            </a:r>
          </a:p>
        </p:txBody>
      </p:sp>
    </p:spTree>
    <p:extLst>
      <p:ext uri="{BB962C8B-B14F-4D97-AF65-F5344CB8AC3E}">
        <p14:creationId xmlns:p14="http://schemas.microsoft.com/office/powerpoint/2010/main" val="10035370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43">
            <a:extLst xmlns:a="http://schemas.openxmlformats.org/drawingml/2006/main">
              <a:ext uri="{FF2B5EF4-FFF2-40B4-BE49-F238E27FC236}">
                <a16:creationId xmlns:a16="http://schemas.microsoft.com/office/drawing/2014/main" id="{6E8F6D2E-4BE1-4852-A830-543F1CF9B04A}"/>
              </a:ext>
            </a:extLst>
          </p:cNvPr>
          <p:cNvSpPr>
            <a:spLocks xmlns:a="http://schemas.openxmlformats.org/drawingml/2006/main" noGrp="1"/>
          </p:cNvSpPr>
          <p:nvPr/>
        </p:nvSpPr>
        <p:spPr>
          <a:xfrm xmlns:a="http://schemas.openxmlformats.org/drawingml/2006/main">
            <a:off x="571500" y="38100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7332F"/>
                </a:solidFill>
                <a:latin typeface="Arial"/>
                <a:ea typeface="Arial"/>
                <a:cs typeface="Arial"/>
              </a:defRPr>
            </a:defPPr>
          </a:lstStyle>
          <a:p xmlns:a="http://schemas.openxmlformats.org/drawingml/2006/main">
            <a:pPr algn="l">
              <a:defRPr sz="3000" b="1">
                <a:solidFill>
                  <a:srgbClr val="17332F"/>
                </a:solidFill>
                <a:latin typeface="Arial"/>
                <a:ea typeface="Arial"/>
                <a:cs typeface="Arial"/>
              </a:defRPr>
            </a:pPr>
            <a:r>
              <a:rPr sz="3000" b="1">
                <a:solidFill>
                  <a:srgbClr val="17332F"/>
                </a:solidFill>
                <a:latin typeface="Arial"/>
                <a:ea typeface="Arial"/>
                <a:cs typeface="Arial"/>
              </a:rPr>
              <a:t>Deploying CloudDrop on AWS</a:t>
            </a:r>
          </a:p>
        </p:txBody>
      </p:sp>
      <p:sp>
        <p:nvSpPr>
          <p:cNvPr id="2" name="">
            <a:extLst xmlns:a="http://schemas.openxmlformats.org/drawingml/2006/main">
              <a:ext uri="{FF2B5EF4-FFF2-40B4-BE49-F238E27FC236}">
                <a16:creationId xmlns:a16="http://schemas.microsoft.com/office/drawing/2014/main" id="{040AC817-7B71-4286-AF69-4840278CDB23}"/>
              </a:ext>
            </a:extLst>
          </p:cNvPr>
          <p:cNvSpPr>
            <a:spLocks xmlns:a="http://schemas.openxmlformats.org/drawingml/2006/main" noGrp="1"/>
          </p:cNvSpPr>
          <p:nvPr/>
        </p:nvSpPr>
        <p:spPr>
          <a:xfrm xmlns:a="http://schemas.openxmlformats.org/drawingml/2006/main">
            <a:off x="571500" y="1095375"/>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3" name="text-44">
            <a:extLst xmlns:a="http://schemas.openxmlformats.org/drawingml/2006/main">
              <a:ext uri="{FF2B5EF4-FFF2-40B4-BE49-F238E27FC236}">
                <a16:creationId xmlns:a16="http://schemas.microsoft.com/office/drawing/2014/main" id="{FD2C7176-6AC6-4713-BAF8-2CF0A31137A4}"/>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71807C"/>
                </a:solidFill>
                <a:latin typeface="Arial"/>
                <a:ea typeface="Arial"/>
                <a:cs typeface="Arial"/>
              </a:defRPr>
            </a:defPPr>
          </a:lstStyle>
          <a:p xmlns:a="http://schemas.openxmlformats.org/drawingml/2006/main">
            <a:pPr algn="r">
              <a:defRPr sz="1125" b="0">
                <a:solidFill>
                  <a:srgbClr val="71807C"/>
                </a:solidFill>
                <a:latin typeface="Arial"/>
                <a:ea typeface="Arial"/>
                <a:cs typeface="Arial"/>
              </a:defRPr>
            </a:pPr>
            <a:r>
              <a:rPr sz="1125" b="0">
                <a:solidFill>
                  <a:srgbClr val="71807C"/>
                </a:solidFill>
                <a:latin typeface="Arial"/>
                <a:ea typeface="Arial"/>
                <a:cs typeface="Arial"/>
              </a:rPr>
              <a:t>06</a:t>
            </a:r>
          </a:p>
        </p:txBody>
      </p:sp>
      <p:sp>
        <p:nvSpPr>
          <p:cNvPr id="4" name="text-45">
            <a:extLst xmlns:a="http://schemas.openxmlformats.org/drawingml/2006/main">
              <a:ext uri="{FF2B5EF4-FFF2-40B4-BE49-F238E27FC236}">
                <a16:creationId xmlns:a16="http://schemas.microsoft.com/office/drawing/2014/main" id="{8D5CA629-9DE4-48B2-B661-E8C4B70DAE80}"/>
              </a:ext>
            </a:extLst>
          </p:cNvPr>
          <p:cNvSpPr>
            <a:spLocks xmlns:a="http://schemas.openxmlformats.org/drawingml/2006/main" noGrp="1"/>
          </p:cNvSpPr>
          <p:nvPr/>
        </p:nvSpPr>
        <p:spPr>
          <a:xfrm xmlns:a="http://schemas.openxmlformats.org/drawingml/2006/main">
            <a:off x="571500" y="152400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C73"/>
                </a:solidFill>
                <a:latin typeface="Arial"/>
                <a:ea typeface="Arial"/>
                <a:cs typeface="Arial"/>
              </a:defRPr>
            </a:defPPr>
          </a:lstStyle>
          <a:p xmlns:a="http://schemas.openxmlformats.org/drawingml/2006/main">
            <a:pPr algn="l">
              <a:defRPr sz="1950" b="1">
                <a:solidFill>
                  <a:srgbClr val="137C73"/>
                </a:solidFill>
                <a:latin typeface="Arial"/>
                <a:ea typeface="Arial"/>
                <a:cs typeface="Arial"/>
              </a:defRPr>
            </a:pPr>
            <a:r>
              <a:rPr sz="1950" b="1">
                <a:solidFill>
                  <a:srgbClr val="137C73"/>
                </a:solidFill>
                <a:latin typeface="Arial"/>
                <a:ea typeface="Arial"/>
                <a:cs typeface="Arial"/>
              </a:rPr>
              <a:t>01</a:t>
            </a:r>
          </a:p>
        </p:txBody>
      </p:sp>
      <p:sp>
        <p:nvSpPr>
          <p:cNvPr id="5" name="text-46">
            <a:extLst xmlns:a="http://schemas.openxmlformats.org/drawingml/2006/main">
              <a:ext uri="{FF2B5EF4-FFF2-40B4-BE49-F238E27FC236}">
                <a16:creationId xmlns:a16="http://schemas.microsoft.com/office/drawing/2014/main" id="{77D9580D-BB1D-4008-A7DD-370D5D9C20AE}"/>
              </a:ext>
            </a:extLst>
          </p:cNvPr>
          <p:cNvSpPr>
            <a:spLocks xmlns:a="http://schemas.openxmlformats.org/drawingml/2006/main" noGrp="1"/>
          </p:cNvSpPr>
          <p:nvPr/>
        </p:nvSpPr>
        <p:spPr>
          <a:xfrm xmlns:a="http://schemas.openxmlformats.org/drawingml/2006/main">
            <a:off x="1200150" y="1524000"/>
            <a:ext cx="3762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Provision EC2, RDS and S3</a:t>
            </a:r>
          </a:p>
        </p:txBody>
      </p:sp>
      <p:sp>
        <p:nvSpPr>
          <p:cNvPr id="6" name="text-47">
            <a:extLst xmlns:a="http://schemas.openxmlformats.org/drawingml/2006/main">
              <a:ext uri="{FF2B5EF4-FFF2-40B4-BE49-F238E27FC236}">
                <a16:creationId xmlns:a16="http://schemas.microsoft.com/office/drawing/2014/main" id="{53E7E140-B78E-4914-BAA6-B667FF2480E1}"/>
              </a:ext>
            </a:extLst>
          </p:cNvPr>
          <p:cNvSpPr>
            <a:spLocks xmlns:a="http://schemas.openxmlformats.org/drawingml/2006/main" noGrp="1"/>
          </p:cNvSpPr>
          <p:nvPr/>
        </p:nvSpPr>
        <p:spPr>
          <a:xfrm xmlns:a="http://schemas.openxmlformats.org/drawingml/2006/main">
            <a:off x="571500" y="220980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C73"/>
                </a:solidFill>
                <a:latin typeface="Arial"/>
                <a:ea typeface="Arial"/>
                <a:cs typeface="Arial"/>
              </a:defRPr>
            </a:defPPr>
          </a:lstStyle>
          <a:p xmlns:a="http://schemas.openxmlformats.org/drawingml/2006/main">
            <a:pPr algn="l">
              <a:defRPr sz="1950" b="1">
                <a:solidFill>
                  <a:srgbClr val="137C73"/>
                </a:solidFill>
                <a:latin typeface="Arial"/>
                <a:ea typeface="Arial"/>
                <a:cs typeface="Arial"/>
              </a:defRPr>
            </a:pPr>
            <a:r>
              <a:rPr sz="1950" b="1">
                <a:solidFill>
                  <a:srgbClr val="137C73"/>
                </a:solidFill>
                <a:latin typeface="Arial"/>
                <a:ea typeface="Arial"/>
                <a:cs typeface="Arial"/>
              </a:rPr>
              <a:t>02</a:t>
            </a:r>
          </a:p>
        </p:txBody>
      </p:sp>
      <p:sp>
        <p:nvSpPr>
          <p:cNvPr id="7" name="text-48">
            <a:extLst xmlns:a="http://schemas.openxmlformats.org/drawingml/2006/main">
              <a:ext uri="{FF2B5EF4-FFF2-40B4-BE49-F238E27FC236}">
                <a16:creationId xmlns:a16="http://schemas.microsoft.com/office/drawing/2014/main" id="{3C05AA04-2FFC-4224-9E3A-DDEB9B194895}"/>
              </a:ext>
            </a:extLst>
          </p:cNvPr>
          <p:cNvSpPr>
            <a:spLocks xmlns:a="http://schemas.openxmlformats.org/drawingml/2006/main" noGrp="1"/>
          </p:cNvSpPr>
          <p:nvPr/>
        </p:nvSpPr>
        <p:spPr>
          <a:xfrm xmlns:a="http://schemas.openxmlformats.org/drawingml/2006/main">
            <a:off x="1200150" y="2209800"/>
            <a:ext cx="3762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Configure database and storage access</a:t>
            </a:r>
          </a:p>
        </p:txBody>
      </p:sp>
      <p:sp>
        <p:nvSpPr>
          <p:cNvPr id="8" name="text-49">
            <a:extLst xmlns:a="http://schemas.openxmlformats.org/drawingml/2006/main">
              <a:ext uri="{FF2B5EF4-FFF2-40B4-BE49-F238E27FC236}">
                <a16:creationId xmlns:a16="http://schemas.microsoft.com/office/drawing/2014/main" id="{ADE25A00-B89F-41FA-818F-1C24B80C3C14}"/>
              </a:ext>
            </a:extLst>
          </p:cNvPr>
          <p:cNvSpPr>
            <a:spLocks xmlns:a="http://schemas.openxmlformats.org/drawingml/2006/main" noGrp="1"/>
          </p:cNvSpPr>
          <p:nvPr/>
        </p:nvSpPr>
        <p:spPr>
          <a:xfrm xmlns:a="http://schemas.openxmlformats.org/drawingml/2006/main">
            <a:off x="571500" y="289560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C73"/>
                </a:solidFill>
                <a:latin typeface="Arial"/>
                <a:ea typeface="Arial"/>
                <a:cs typeface="Arial"/>
              </a:defRPr>
            </a:defPPr>
          </a:lstStyle>
          <a:p xmlns:a="http://schemas.openxmlformats.org/drawingml/2006/main">
            <a:pPr algn="l">
              <a:defRPr sz="1950" b="1">
                <a:solidFill>
                  <a:srgbClr val="137C73"/>
                </a:solidFill>
                <a:latin typeface="Arial"/>
                <a:ea typeface="Arial"/>
                <a:cs typeface="Arial"/>
              </a:defRPr>
            </a:pPr>
            <a:r>
              <a:rPr sz="1950" b="1">
                <a:solidFill>
                  <a:srgbClr val="137C73"/>
                </a:solidFill>
                <a:latin typeface="Arial"/>
                <a:ea typeface="Arial"/>
                <a:cs typeface="Arial"/>
              </a:rPr>
              <a:t>03</a:t>
            </a:r>
          </a:p>
        </p:txBody>
      </p:sp>
      <p:sp>
        <p:nvSpPr>
          <p:cNvPr id="9" name="text-50">
            <a:extLst xmlns:a="http://schemas.openxmlformats.org/drawingml/2006/main">
              <a:ext uri="{FF2B5EF4-FFF2-40B4-BE49-F238E27FC236}">
                <a16:creationId xmlns:a16="http://schemas.microsoft.com/office/drawing/2014/main" id="{C1434F0E-6EA7-4716-B9EE-F79ECC15221C}"/>
              </a:ext>
            </a:extLst>
          </p:cNvPr>
          <p:cNvSpPr>
            <a:spLocks xmlns:a="http://schemas.openxmlformats.org/drawingml/2006/main" noGrp="1"/>
          </p:cNvSpPr>
          <p:nvPr/>
        </p:nvSpPr>
        <p:spPr>
          <a:xfrm xmlns:a="http://schemas.openxmlformats.org/drawingml/2006/main">
            <a:off x="1200150" y="2895600"/>
            <a:ext cx="3762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Containerize frontend and backend</a:t>
            </a:r>
          </a:p>
        </p:txBody>
      </p:sp>
      <p:sp>
        <p:nvSpPr>
          <p:cNvPr id="10" name="text-51">
            <a:extLst xmlns:a="http://schemas.openxmlformats.org/drawingml/2006/main">
              <a:ext uri="{FF2B5EF4-FFF2-40B4-BE49-F238E27FC236}">
                <a16:creationId xmlns:a16="http://schemas.microsoft.com/office/drawing/2014/main" id="{57F92C6A-4BEF-444C-BF90-C0361CCACB56}"/>
              </a:ext>
            </a:extLst>
          </p:cNvPr>
          <p:cNvSpPr>
            <a:spLocks xmlns:a="http://schemas.openxmlformats.org/drawingml/2006/main" noGrp="1"/>
          </p:cNvSpPr>
          <p:nvPr/>
        </p:nvSpPr>
        <p:spPr>
          <a:xfrm xmlns:a="http://schemas.openxmlformats.org/drawingml/2006/main">
            <a:off x="571500" y="358140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C73"/>
                </a:solidFill>
                <a:latin typeface="Arial"/>
                <a:ea typeface="Arial"/>
                <a:cs typeface="Arial"/>
              </a:defRPr>
            </a:defPPr>
          </a:lstStyle>
          <a:p xmlns:a="http://schemas.openxmlformats.org/drawingml/2006/main">
            <a:pPr algn="l">
              <a:defRPr sz="1950" b="1">
                <a:solidFill>
                  <a:srgbClr val="137C73"/>
                </a:solidFill>
                <a:latin typeface="Arial"/>
                <a:ea typeface="Arial"/>
                <a:cs typeface="Arial"/>
              </a:defRPr>
            </a:pPr>
            <a:r>
              <a:rPr sz="1950" b="1">
                <a:solidFill>
                  <a:srgbClr val="137C73"/>
                </a:solidFill>
                <a:latin typeface="Arial"/>
                <a:ea typeface="Arial"/>
                <a:cs typeface="Arial"/>
              </a:rPr>
              <a:t>04</a:t>
            </a:r>
          </a:p>
        </p:txBody>
      </p:sp>
      <p:sp>
        <p:nvSpPr>
          <p:cNvPr id="11" name="text-52">
            <a:extLst xmlns:a="http://schemas.openxmlformats.org/drawingml/2006/main">
              <a:ext uri="{FF2B5EF4-FFF2-40B4-BE49-F238E27FC236}">
                <a16:creationId xmlns:a16="http://schemas.microsoft.com/office/drawing/2014/main" id="{5D1A5A43-71AF-48C1-BCEB-FECC660FE3C4}"/>
              </a:ext>
            </a:extLst>
          </p:cNvPr>
          <p:cNvSpPr>
            <a:spLocks xmlns:a="http://schemas.openxmlformats.org/drawingml/2006/main" noGrp="1"/>
          </p:cNvSpPr>
          <p:nvPr/>
        </p:nvSpPr>
        <p:spPr>
          <a:xfrm xmlns:a="http://schemas.openxmlformats.org/drawingml/2006/main">
            <a:off x="1200150" y="3581400"/>
            <a:ext cx="3762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Configure Nginx and HTTPS</a:t>
            </a:r>
          </a:p>
        </p:txBody>
      </p:sp>
      <p:sp>
        <p:nvSpPr>
          <p:cNvPr id="12" name="text-53">
            <a:extLst xmlns:a="http://schemas.openxmlformats.org/drawingml/2006/main">
              <a:ext uri="{FF2B5EF4-FFF2-40B4-BE49-F238E27FC236}">
                <a16:creationId xmlns:a16="http://schemas.microsoft.com/office/drawing/2014/main" id="{370A3A06-9ACA-4A2B-8298-3CB54090F793}"/>
              </a:ext>
            </a:extLst>
          </p:cNvPr>
          <p:cNvSpPr>
            <a:spLocks xmlns:a="http://schemas.openxmlformats.org/drawingml/2006/main" noGrp="1"/>
          </p:cNvSpPr>
          <p:nvPr/>
        </p:nvSpPr>
        <p:spPr>
          <a:xfrm xmlns:a="http://schemas.openxmlformats.org/drawingml/2006/main">
            <a:off x="571500" y="426720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C73"/>
                </a:solidFill>
                <a:latin typeface="Arial"/>
                <a:ea typeface="Arial"/>
                <a:cs typeface="Arial"/>
              </a:defRPr>
            </a:defPPr>
          </a:lstStyle>
          <a:p xmlns:a="http://schemas.openxmlformats.org/drawingml/2006/main">
            <a:pPr algn="l">
              <a:defRPr sz="1950" b="1">
                <a:solidFill>
                  <a:srgbClr val="137C73"/>
                </a:solidFill>
                <a:latin typeface="Arial"/>
                <a:ea typeface="Arial"/>
                <a:cs typeface="Arial"/>
              </a:defRPr>
            </a:pPr>
            <a:r>
              <a:rPr sz="1950" b="1">
                <a:solidFill>
                  <a:srgbClr val="137C73"/>
                </a:solidFill>
                <a:latin typeface="Arial"/>
                <a:ea typeface="Arial"/>
                <a:cs typeface="Arial"/>
              </a:rPr>
              <a:t>05</a:t>
            </a:r>
          </a:p>
        </p:txBody>
      </p:sp>
      <p:sp>
        <p:nvSpPr>
          <p:cNvPr id="13" name="text-54">
            <a:extLst xmlns:a="http://schemas.openxmlformats.org/drawingml/2006/main">
              <a:ext uri="{FF2B5EF4-FFF2-40B4-BE49-F238E27FC236}">
                <a16:creationId xmlns:a16="http://schemas.microsoft.com/office/drawing/2014/main" id="{86511BAB-5107-4BF4-9D8B-D1332E5F50B9}"/>
              </a:ext>
            </a:extLst>
          </p:cNvPr>
          <p:cNvSpPr>
            <a:spLocks xmlns:a="http://schemas.openxmlformats.org/drawingml/2006/main" noGrp="1"/>
          </p:cNvSpPr>
          <p:nvPr/>
        </p:nvSpPr>
        <p:spPr>
          <a:xfrm xmlns:a="http://schemas.openxmlformats.org/drawingml/2006/main">
            <a:off x="1200150" y="4267200"/>
            <a:ext cx="3762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Connect the DuckDNS domain</a:t>
            </a:r>
          </a:p>
        </p:txBody>
      </p:sp>
      <p:sp>
        <p:nvSpPr>
          <p:cNvPr id="14" name="text-55">
            <a:extLst xmlns:a="http://schemas.openxmlformats.org/drawingml/2006/main">
              <a:ext uri="{FF2B5EF4-FFF2-40B4-BE49-F238E27FC236}">
                <a16:creationId xmlns:a16="http://schemas.microsoft.com/office/drawing/2014/main" id="{658683FA-94C7-49AD-B75E-D5C67A31BE2F}"/>
              </a:ext>
            </a:extLst>
          </p:cNvPr>
          <p:cNvSpPr>
            <a:spLocks xmlns:a="http://schemas.openxmlformats.org/drawingml/2006/main" noGrp="1"/>
          </p:cNvSpPr>
          <p:nvPr/>
        </p:nvSpPr>
        <p:spPr>
          <a:xfrm xmlns:a="http://schemas.openxmlformats.org/drawingml/2006/main">
            <a:off x="571500" y="495300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C73"/>
                </a:solidFill>
                <a:latin typeface="Arial"/>
                <a:ea typeface="Arial"/>
                <a:cs typeface="Arial"/>
              </a:defRPr>
            </a:defPPr>
          </a:lstStyle>
          <a:p xmlns:a="http://schemas.openxmlformats.org/drawingml/2006/main">
            <a:pPr algn="l">
              <a:defRPr sz="1950" b="1">
                <a:solidFill>
                  <a:srgbClr val="137C73"/>
                </a:solidFill>
                <a:latin typeface="Arial"/>
                <a:ea typeface="Arial"/>
                <a:cs typeface="Arial"/>
              </a:defRPr>
            </a:pPr>
            <a:r>
              <a:rPr sz="1950" b="1">
                <a:solidFill>
                  <a:srgbClr val="137C73"/>
                </a:solidFill>
                <a:latin typeface="Arial"/>
                <a:ea typeface="Arial"/>
                <a:cs typeface="Arial"/>
              </a:rPr>
              <a:t>06</a:t>
            </a:r>
          </a:p>
        </p:txBody>
      </p:sp>
      <p:sp>
        <p:nvSpPr>
          <p:cNvPr id="15" name="text-56">
            <a:extLst xmlns:a="http://schemas.openxmlformats.org/drawingml/2006/main">
              <a:ext uri="{FF2B5EF4-FFF2-40B4-BE49-F238E27FC236}">
                <a16:creationId xmlns:a16="http://schemas.microsoft.com/office/drawing/2014/main" id="{F3CA15E2-D695-4962-AC68-2D337B9EEC42}"/>
              </a:ext>
            </a:extLst>
          </p:cNvPr>
          <p:cNvSpPr>
            <a:spLocks xmlns:a="http://schemas.openxmlformats.org/drawingml/2006/main" noGrp="1"/>
          </p:cNvSpPr>
          <p:nvPr/>
        </p:nvSpPr>
        <p:spPr>
          <a:xfrm xmlns:a="http://schemas.openxmlformats.org/drawingml/2006/main">
            <a:off x="1200150" y="4953000"/>
            <a:ext cx="3762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Verify the application and core flows</a:t>
            </a:r>
          </a:p>
        </p:txBody>
      </p:sp>
      <p:pic>
        <p:nvPicPr>
          <p:cNvPr id="16" name="">
            <a:extLst xmlns:a="http://schemas.openxmlformats.org/drawingml/2006/main">
              <a:ext uri="{FF2B5EF4-FFF2-40B4-BE49-F238E27FC236}">
                <a16:creationId xmlns:a16="http://schemas.microsoft.com/office/drawing/2014/main" id="{299645B2-C277-41E1-AAAB-12E36676F136}"/>
              </a:ext>
            </a:extLst>
          </p:cNvPr>
          <p:cNvPicPr>
            <a:picLocks xmlns:a="http://schemas.openxmlformats.org/drawingml/2006/main" noChangeAspect="1"/>
          </p:cNvPicPr>
          <p:nvPr/>
        </p:nvPicPr>
        <p:blipFill>
          <a:blip xmlns:r="http://schemas.openxmlformats.org/officeDocument/2006/relationships" xmlns:a="http://schemas.openxmlformats.org/drawingml/2006/main" r:embed="R7dc7f1f5e2524ac8"/>
          <a:stretch xmlns:a="http://schemas.openxmlformats.org/drawingml/2006/main"/>
        </p:blipFill>
        <p:spPr>
          <a:xfrm xmlns:a="http://schemas.openxmlformats.org/drawingml/2006/main">
            <a:off x="5391150" y="1582341"/>
            <a:ext cx="6229350" cy="3893344"/>
          </a:xfrm>
          <a:prstGeom xmlns:a="http://schemas.openxmlformats.org/drawingml/2006/main" prst="rect">
            <a:avLst/>
          </a:prstGeom>
        </p:spPr>
      </p:pic>
      <p:sp>
        <p:nvSpPr>
          <p:cNvPr id="17" name="text-57">
            <a:extLst xmlns:a="http://schemas.openxmlformats.org/drawingml/2006/main">
              <a:ext uri="{FF2B5EF4-FFF2-40B4-BE49-F238E27FC236}">
                <a16:creationId xmlns:a16="http://schemas.microsoft.com/office/drawing/2014/main" id="{5F4CC521-CFE0-4D3E-AF3A-77EBDEC21952}"/>
              </a:ext>
            </a:extLst>
          </p:cNvPr>
          <p:cNvSpPr>
            <a:spLocks xmlns:a="http://schemas.openxmlformats.org/drawingml/2006/main" noGrp="1"/>
          </p:cNvSpPr>
          <p:nvPr/>
        </p:nvSpPr>
        <p:spPr>
          <a:xfrm xmlns:a="http://schemas.openxmlformats.org/drawingml/2006/main">
            <a:off x="5391150" y="5629275"/>
            <a:ext cx="6229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37C73"/>
                </a:solidFill>
                <a:latin typeface="Arial"/>
                <a:ea typeface="Arial"/>
                <a:cs typeface="Arial"/>
              </a:defRPr>
            </a:defPPr>
          </a:lstStyle>
          <a:p xmlns:a="http://schemas.openxmlformats.org/drawingml/2006/main">
            <a:pPr algn="l">
              <a:defRPr sz="1500" b="1">
                <a:solidFill>
                  <a:srgbClr val="137C73"/>
                </a:solidFill>
                <a:latin typeface="Arial"/>
                <a:ea typeface="Arial"/>
                <a:cs typeface="Arial"/>
              </a:defRPr>
            </a:pPr>
            <a:r>
              <a:rPr sz="1500" b="1">
                <a:solidFill>
                  <a:srgbClr val="137C73"/>
                </a:solidFill>
                <a:latin typeface="Arial"/>
                <a:ea typeface="Arial"/>
                <a:cs typeface="Arial"/>
              </a:rPr>
              <a:t>Deployed website, HTTPS login page</a:t>
            </a:r>
          </a:p>
        </p:txBody>
      </p:sp>
      <p:sp>
        <p:nvSpPr>
          <p:cNvPr id="18" name="text-58">
            <a:extLst xmlns:a="http://schemas.openxmlformats.org/drawingml/2006/main">
              <a:ext uri="{FF2B5EF4-FFF2-40B4-BE49-F238E27FC236}">
                <a16:creationId xmlns:a16="http://schemas.microsoft.com/office/drawing/2014/main" id="{BA2A6256-C378-4D9A-9A23-E1F5D90AF337}"/>
              </a:ext>
            </a:extLst>
          </p:cNvPr>
          <p:cNvSpPr>
            <a:spLocks xmlns:a="http://schemas.openxmlformats.org/drawingml/2006/main" noGrp="1"/>
          </p:cNvSpPr>
          <p:nvPr/>
        </p:nvSpPr>
        <p:spPr>
          <a:xfrm xmlns:a="http://schemas.openxmlformats.org/drawingml/2006/main">
            <a:off x="5391150" y="5981700"/>
            <a:ext cx="6229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61"/>
                </a:solidFill>
                <a:latin typeface="Arial"/>
                <a:ea typeface="Arial"/>
                <a:cs typeface="Arial"/>
              </a:defRPr>
            </a:defPPr>
          </a:lstStyle>
          <a:p xmlns:a="http://schemas.openxmlformats.org/drawingml/2006/main">
            <a:pPr algn="l">
              <a:defRPr sz="1350" b="0">
                <a:solidFill>
                  <a:srgbClr val="526561"/>
                </a:solidFill>
                <a:latin typeface="Arial"/>
                <a:ea typeface="Arial"/>
                <a:cs typeface="Arial"/>
              </a:defRPr>
            </a:pPr>
            <a:r>
              <a:rPr sz="1350" b="0">
                <a:solidFill>
                  <a:srgbClr val="526561"/>
                </a:solidFill>
                <a:latin typeface="Arial"/>
                <a:ea typeface="Arial"/>
                <a:cs typeface="Arial"/>
              </a:rPr>
              <a:t>Captured 16 October 2026</a:t>
            </a:r>
          </a:p>
        </p:txBody>
      </p:sp>
    </p:spTree>
    <p:extLst>
      <p:ext uri="{BB962C8B-B14F-4D97-AF65-F5344CB8AC3E}">
        <p14:creationId xmlns:p14="http://schemas.microsoft.com/office/powerpoint/2010/main" val="20402403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59">
            <a:extLst xmlns:a="http://schemas.openxmlformats.org/drawingml/2006/main">
              <a:ext uri="{FF2B5EF4-FFF2-40B4-BE49-F238E27FC236}">
                <a16:creationId xmlns:a16="http://schemas.microsoft.com/office/drawing/2014/main" id="{DD2BB964-8FB7-4175-8157-9B6A9839A427}"/>
              </a:ext>
            </a:extLst>
          </p:cNvPr>
          <p:cNvSpPr>
            <a:spLocks xmlns:a="http://schemas.openxmlformats.org/drawingml/2006/main" noGrp="1"/>
          </p:cNvSpPr>
          <p:nvPr/>
        </p:nvSpPr>
        <p:spPr>
          <a:xfrm xmlns:a="http://schemas.openxmlformats.org/drawingml/2006/main">
            <a:off x="571500" y="38100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7332F"/>
                </a:solidFill>
                <a:latin typeface="Arial"/>
                <a:ea typeface="Arial"/>
                <a:cs typeface="Arial"/>
              </a:defRPr>
            </a:defPPr>
          </a:lstStyle>
          <a:p xmlns:a="http://schemas.openxmlformats.org/drawingml/2006/main">
            <a:pPr algn="l">
              <a:defRPr sz="3000" b="1">
                <a:solidFill>
                  <a:srgbClr val="17332F"/>
                </a:solidFill>
                <a:latin typeface="Arial"/>
                <a:ea typeface="Arial"/>
                <a:cs typeface="Arial"/>
              </a:defRPr>
            </a:pPr>
            <a:r>
              <a:rPr sz="3000" b="1">
                <a:solidFill>
                  <a:srgbClr val="17332F"/>
                </a:solidFill>
                <a:latin typeface="Arial"/>
                <a:ea typeface="Arial"/>
                <a:cs typeface="Arial"/>
              </a:rPr>
              <a:t>Challenges We Faced</a:t>
            </a:r>
          </a:p>
        </p:txBody>
      </p:sp>
      <p:sp>
        <p:nvSpPr>
          <p:cNvPr id="2" name="">
            <a:extLst xmlns:a="http://schemas.openxmlformats.org/drawingml/2006/main">
              <a:ext uri="{FF2B5EF4-FFF2-40B4-BE49-F238E27FC236}">
                <a16:creationId xmlns:a16="http://schemas.microsoft.com/office/drawing/2014/main" id="{6AC0C7B8-C788-48D4-926C-5853E077C1E0}"/>
              </a:ext>
            </a:extLst>
          </p:cNvPr>
          <p:cNvSpPr>
            <a:spLocks xmlns:a="http://schemas.openxmlformats.org/drawingml/2006/main" noGrp="1"/>
          </p:cNvSpPr>
          <p:nvPr/>
        </p:nvSpPr>
        <p:spPr>
          <a:xfrm xmlns:a="http://schemas.openxmlformats.org/drawingml/2006/main">
            <a:off x="571500" y="1095375"/>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3" name="text-60">
            <a:extLst xmlns:a="http://schemas.openxmlformats.org/drawingml/2006/main">
              <a:ext uri="{FF2B5EF4-FFF2-40B4-BE49-F238E27FC236}">
                <a16:creationId xmlns:a16="http://schemas.microsoft.com/office/drawing/2014/main" id="{9E11EE85-D7FB-4126-AD5B-B1C833FE6CC3}"/>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71807C"/>
                </a:solidFill>
                <a:latin typeface="Arial"/>
                <a:ea typeface="Arial"/>
                <a:cs typeface="Arial"/>
              </a:defRPr>
            </a:defPPr>
          </a:lstStyle>
          <a:p xmlns:a="http://schemas.openxmlformats.org/drawingml/2006/main">
            <a:pPr algn="r">
              <a:defRPr sz="1125" b="0">
                <a:solidFill>
                  <a:srgbClr val="71807C"/>
                </a:solidFill>
                <a:latin typeface="Arial"/>
                <a:ea typeface="Arial"/>
                <a:cs typeface="Arial"/>
              </a:defRPr>
            </a:pPr>
            <a:r>
              <a:rPr sz="1125" b="0">
                <a:solidFill>
                  <a:srgbClr val="71807C"/>
                </a:solidFill>
                <a:latin typeface="Arial"/>
                <a:ea typeface="Arial"/>
                <a:cs typeface="Arial"/>
              </a:rPr>
              <a:t>07</a:t>
            </a:r>
          </a:p>
        </p:txBody>
      </p:sp>
      <p:sp>
        <p:nvSpPr>
          <p:cNvPr id="4" name="text-61">
            <a:extLst xmlns:a="http://schemas.openxmlformats.org/drawingml/2006/main">
              <a:ext uri="{FF2B5EF4-FFF2-40B4-BE49-F238E27FC236}">
                <a16:creationId xmlns:a16="http://schemas.microsoft.com/office/drawing/2014/main" id="{1BC4844D-4A92-4F4C-8A55-6B9A12747C67}"/>
              </a:ext>
            </a:extLst>
          </p:cNvPr>
          <p:cNvSpPr>
            <a:spLocks xmlns:a="http://schemas.openxmlformats.org/drawingml/2006/main" noGrp="1"/>
          </p:cNvSpPr>
          <p:nvPr/>
        </p:nvSpPr>
        <p:spPr>
          <a:xfrm xmlns:a="http://schemas.openxmlformats.org/drawingml/2006/main">
            <a:off x="571500" y="14382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C73"/>
                </a:solidFill>
                <a:latin typeface="Arial"/>
                <a:ea typeface="Arial"/>
                <a:cs typeface="Arial"/>
              </a:defRPr>
            </a:defPPr>
          </a:lstStyle>
          <a:p xmlns:a="http://schemas.openxmlformats.org/drawingml/2006/main">
            <a:pPr algn="l">
              <a:defRPr sz="1950" b="1">
                <a:solidFill>
                  <a:srgbClr val="137C73"/>
                </a:solidFill>
                <a:latin typeface="Arial"/>
                <a:ea typeface="Arial"/>
                <a:cs typeface="Arial"/>
              </a:defRPr>
            </a:pPr>
            <a:r>
              <a:rPr sz="1950" b="1">
                <a:solidFill>
                  <a:srgbClr val="137C73"/>
                </a:solidFill>
                <a:latin typeface="Arial"/>
                <a:ea typeface="Arial"/>
                <a:cs typeface="Arial"/>
              </a:rPr>
              <a:t>AWS access</a:t>
            </a:r>
          </a:p>
        </p:txBody>
      </p:sp>
      <p:sp>
        <p:nvSpPr>
          <p:cNvPr id="5" name="text-62">
            <a:extLst xmlns:a="http://schemas.openxmlformats.org/drawingml/2006/main">
              <a:ext uri="{FF2B5EF4-FFF2-40B4-BE49-F238E27FC236}">
                <a16:creationId xmlns:a16="http://schemas.microsoft.com/office/drawing/2014/main" id="{FE828881-A220-4D02-A293-9CC70A7A2EC3}"/>
              </a:ext>
            </a:extLst>
          </p:cNvPr>
          <p:cNvSpPr>
            <a:spLocks xmlns:a="http://schemas.openxmlformats.org/drawingml/2006/main" noGrp="1"/>
          </p:cNvSpPr>
          <p:nvPr/>
        </p:nvSpPr>
        <p:spPr>
          <a:xfrm xmlns:a="http://schemas.openxmlformats.org/drawingml/2006/main">
            <a:off x="3333750" y="1438275"/>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32F"/>
                </a:solidFill>
                <a:latin typeface="Arial"/>
                <a:ea typeface="Arial"/>
                <a:cs typeface="Arial"/>
              </a:defRPr>
            </a:defPPr>
          </a:lstStyle>
          <a:p xmlns:a="http://schemas.openxmlformats.org/drawingml/2006/main">
            <a:pPr algn="l">
              <a:defRPr sz="1950" b="0">
                <a:solidFill>
                  <a:srgbClr val="17332F"/>
                </a:solidFill>
                <a:latin typeface="Arial"/>
                <a:ea typeface="Arial"/>
                <a:cs typeface="Arial"/>
              </a:defRPr>
            </a:pPr>
            <a:r>
              <a:rPr sz="1950" b="0">
                <a:solidFill>
                  <a:srgbClr val="17332F"/>
                </a:solidFill>
                <a:latin typeface="Arial"/>
                <a:ea typeface="Arial"/>
                <a:cs typeface="Arial"/>
              </a:rPr>
              <a:t>Aligning EC2, RDS and S3 access permissions</a:t>
            </a:r>
          </a:p>
        </p:txBody>
      </p:sp>
      <p:sp>
        <p:nvSpPr>
          <p:cNvPr id="6" name="">
            <a:extLst xmlns:a="http://schemas.openxmlformats.org/drawingml/2006/main">
              <a:ext uri="{FF2B5EF4-FFF2-40B4-BE49-F238E27FC236}">
                <a16:creationId xmlns:a16="http://schemas.microsoft.com/office/drawing/2014/main" id="{8778CE0B-9E51-42CC-84E8-64BD1D960BA9}"/>
              </a:ext>
            </a:extLst>
          </p:cNvPr>
          <p:cNvSpPr>
            <a:spLocks xmlns:a="http://schemas.openxmlformats.org/drawingml/2006/main" noGrp="1"/>
          </p:cNvSpPr>
          <p:nvPr/>
        </p:nvSpPr>
        <p:spPr>
          <a:xfrm xmlns:a="http://schemas.openxmlformats.org/drawingml/2006/main">
            <a:off x="571500" y="2047875"/>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7" name="text-63">
            <a:extLst xmlns:a="http://schemas.openxmlformats.org/drawingml/2006/main">
              <a:ext uri="{FF2B5EF4-FFF2-40B4-BE49-F238E27FC236}">
                <a16:creationId xmlns:a16="http://schemas.microsoft.com/office/drawing/2014/main" id="{2622848D-8EA5-4DB5-89B1-5870037D1710}"/>
              </a:ext>
            </a:extLst>
          </p:cNvPr>
          <p:cNvSpPr>
            <a:spLocks xmlns:a="http://schemas.openxmlformats.org/drawingml/2006/main" noGrp="1"/>
          </p:cNvSpPr>
          <p:nvPr/>
        </p:nvSpPr>
        <p:spPr>
          <a:xfrm xmlns:a="http://schemas.openxmlformats.org/drawingml/2006/main">
            <a:off x="571500" y="21907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C73"/>
                </a:solidFill>
                <a:latin typeface="Arial"/>
                <a:ea typeface="Arial"/>
                <a:cs typeface="Arial"/>
              </a:defRPr>
            </a:defPPr>
          </a:lstStyle>
          <a:p xmlns:a="http://schemas.openxmlformats.org/drawingml/2006/main">
            <a:pPr algn="l">
              <a:defRPr sz="1950" b="1">
                <a:solidFill>
                  <a:srgbClr val="137C73"/>
                </a:solidFill>
                <a:latin typeface="Arial"/>
                <a:ea typeface="Arial"/>
                <a:cs typeface="Arial"/>
              </a:defRPr>
            </a:pPr>
            <a:r>
              <a:rPr sz="1950" b="1">
                <a:solidFill>
                  <a:srgbClr val="137C73"/>
                </a:solidFill>
                <a:latin typeface="Arial"/>
                <a:ea typeface="Arial"/>
                <a:cs typeface="Arial"/>
              </a:rPr>
              <a:t>Configuration</a:t>
            </a:r>
          </a:p>
        </p:txBody>
      </p:sp>
      <p:sp>
        <p:nvSpPr>
          <p:cNvPr id="8" name="text-64">
            <a:extLst xmlns:a="http://schemas.openxmlformats.org/drawingml/2006/main">
              <a:ext uri="{FF2B5EF4-FFF2-40B4-BE49-F238E27FC236}">
                <a16:creationId xmlns:a16="http://schemas.microsoft.com/office/drawing/2014/main" id="{EC32B98B-45D2-457A-AEFF-1535A8B85BC5}"/>
              </a:ext>
            </a:extLst>
          </p:cNvPr>
          <p:cNvSpPr>
            <a:spLocks xmlns:a="http://schemas.openxmlformats.org/drawingml/2006/main" noGrp="1"/>
          </p:cNvSpPr>
          <p:nvPr/>
        </p:nvSpPr>
        <p:spPr>
          <a:xfrm xmlns:a="http://schemas.openxmlformats.org/drawingml/2006/main">
            <a:off x="3333750" y="2190750"/>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32F"/>
                </a:solidFill>
                <a:latin typeface="Arial"/>
                <a:ea typeface="Arial"/>
                <a:cs typeface="Arial"/>
              </a:defRPr>
            </a:defPPr>
          </a:lstStyle>
          <a:p xmlns:a="http://schemas.openxmlformats.org/drawingml/2006/main">
            <a:pPr algn="l">
              <a:defRPr sz="1950" b="0">
                <a:solidFill>
                  <a:srgbClr val="17332F"/>
                </a:solidFill>
                <a:latin typeface="Arial"/>
                <a:ea typeface="Arial"/>
                <a:cs typeface="Arial"/>
              </a:defRPr>
            </a:pPr>
            <a:r>
              <a:rPr sz="1950" b="0">
                <a:solidFill>
                  <a:srgbClr val="17332F"/>
                </a:solidFill>
                <a:latin typeface="Arial"/>
                <a:ea typeface="Arial"/>
                <a:cs typeface="Arial"/>
              </a:rPr>
              <a:t>Coordinating environment variables and email delivery</a:t>
            </a:r>
          </a:p>
        </p:txBody>
      </p:sp>
      <p:sp>
        <p:nvSpPr>
          <p:cNvPr id="9" name="">
            <a:extLst xmlns:a="http://schemas.openxmlformats.org/drawingml/2006/main">
              <a:ext uri="{FF2B5EF4-FFF2-40B4-BE49-F238E27FC236}">
                <a16:creationId xmlns:a16="http://schemas.microsoft.com/office/drawing/2014/main" id="{68195897-3629-4C66-A636-13D7A37636FE}"/>
              </a:ext>
            </a:extLst>
          </p:cNvPr>
          <p:cNvSpPr>
            <a:spLocks xmlns:a="http://schemas.openxmlformats.org/drawingml/2006/main" noGrp="1"/>
          </p:cNvSpPr>
          <p:nvPr/>
        </p:nvSpPr>
        <p:spPr>
          <a:xfrm xmlns:a="http://schemas.openxmlformats.org/drawingml/2006/main">
            <a:off x="571500" y="2800350"/>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10" name="text-65">
            <a:extLst xmlns:a="http://schemas.openxmlformats.org/drawingml/2006/main">
              <a:ext uri="{FF2B5EF4-FFF2-40B4-BE49-F238E27FC236}">
                <a16:creationId xmlns:a16="http://schemas.microsoft.com/office/drawing/2014/main" id="{E747D410-6832-426A-8D61-6815ED0C2637}"/>
              </a:ext>
            </a:extLst>
          </p:cNvPr>
          <p:cNvSpPr>
            <a:spLocks xmlns:a="http://schemas.openxmlformats.org/drawingml/2006/main" noGrp="1"/>
          </p:cNvSpPr>
          <p:nvPr/>
        </p:nvSpPr>
        <p:spPr>
          <a:xfrm xmlns:a="http://schemas.openxmlformats.org/drawingml/2006/main">
            <a:off x="571500" y="294322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C73"/>
                </a:solidFill>
                <a:latin typeface="Arial"/>
                <a:ea typeface="Arial"/>
                <a:cs typeface="Arial"/>
              </a:defRPr>
            </a:defPPr>
          </a:lstStyle>
          <a:p xmlns:a="http://schemas.openxmlformats.org/drawingml/2006/main">
            <a:pPr algn="l">
              <a:defRPr sz="1950" b="1">
                <a:solidFill>
                  <a:srgbClr val="137C73"/>
                </a:solidFill>
                <a:latin typeface="Arial"/>
                <a:ea typeface="Arial"/>
                <a:cs typeface="Arial"/>
              </a:defRPr>
            </a:pPr>
            <a:r>
              <a:rPr sz="1950" b="1">
                <a:solidFill>
                  <a:srgbClr val="137C73"/>
                </a:solidFill>
                <a:latin typeface="Arial"/>
                <a:ea typeface="Arial"/>
                <a:cs typeface="Arial"/>
              </a:rPr>
              <a:t>API coordination</a:t>
            </a:r>
          </a:p>
        </p:txBody>
      </p:sp>
      <p:sp>
        <p:nvSpPr>
          <p:cNvPr id="11" name="text-66">
            <a:extLst xmlns:a="http://schemas.openxmlformats.org/drawingml/2006/main">
              <a:ext uri="{FF2B5EF4-FFF2-40B4-BE49-F238E27FC236}">
                <a16:creationId xmlns:a16="http://schemas.microsoft.com/office/drawing/2014/main" id="{77C3598D-0424-4230-93FA-757EEE05D089}"/>
              </a:ext>
            </a:extLst>
          </p:cNvPr>
          <p:cNvSpPr>
            <a:spLocks xmlns:a="http://schemas.openxmlformats.org/drawingml/2006/main" noGrp="1"/>
          </p:cNvSpPr>
          <p:nvPr/>
        </p:nvSpPr>
        <p:spPr>
          <a:xfrm xmlns:a="http://schemas.openxmlformats.org/drawingml/2006/main">
            <a:off x="3333750" y="2943225"/>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32F"/>
                </a:solidFill>
                <a:latin typeface="Arial"/>
                <a:ea typeface="Arial"/>
                <a:cs typeface="Arial"/>
              </a:defRPr>
            </a:defPPr>
          </a:lstStyle>
          <a:p xmlns:a="http://schemas.openxmlformats.org/drawingml/2006/main">
            <a:pPr algn="l">
              <a:defRPr sz="1950" b="0">
                <a:solidFill>
                  <a:srgbClr val="17332F"/>
                </a:solidFill>
                <a:latin typeface="Arial"/>
                <a:ea typeface="Arial"/>
                <a:cs typeface="Arial"/>
              </a:defRPr>
            </a:pPr>
            <a:r>
              <a:rPr sz="1950" b="0">
                <a:solidFill>
                  <a:srgbClr val="17332F"/>
                </a:solidFill>
                <a:latin typeface="Arial"/>
                <a:ea typeface="Arial"/>
                <a:cs typeface="Arial"/>
              </a:rPr>
              <a:t>Keeping frontend and backend response contracts aligned</a:t>
            </a:r>
          </a:p>
        </p:txBody>
      </p:sp>
      <p:sp>
        <p:nvSpPr>
          <p:cNvPr id="12" name="">
            <a:extLst xmlns:a="http://schemas.openxmlformats.org/drawingml/2006/main">
              <a:ext uri="{FF2B5EF4-FFF2-40B4-BE49-F238E27FC236}">
                <a16:creationId xmlns:a16="http://schemas.microsoft.com/office/drawing/2014/main" id="{DAF642BF-5BC4-48C2-8B0C-92932AC2C579}"/>
              </a:ext>
            </a:extLst>
          </p:cNvPr>
          <p:cNvSpPr>
            <a:spLocks xmlns:a="http://schemas.openxmlformats.org/drawingml/2006/main" noGrp="1"/>
          </p:cNvSpPr>
          <p:nvPr/>
        </p:nvSpPr>
        <p:spPr>
          <a:xfrm xmlns:a="http://schemas.openxmlformats.org/drawingml/2006/main">
            <a:off x="571500" y="3552825"/>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13" name="text-67">
            <a:extLst xmlns:a="http://schemas.openxmlformats.org/drawingml/2006/main">
              <a:ext uri="{FF2B5EF4-FFF2-40B4-BE49-F238E27FC236}">
                <a16:creationId xmlns:a16="http://schemas.microsoft.com/office/drawing/2014/main" id="{815F4E3C-4F70-4D0D-8E56-434FDFE4716D}"/>
              </a:ext>
            </a:extLst>
          </p:cNvPr>
          <p:cNvSpPr>
            <a:spLocks xmlns:a="http://schemas.openxmlformats.org/drawingml/2006/main" noGrp="1"/>
          </p:cNvSpPr>
          <p:nvPr/>
        </p:nvSpPr>
        <p:spPr>
          <a:xfrm xmlns:a="http://schemas.openxmlformats.org/drawingml/2006/main">
            <a:off x="571500" y="36957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C73"/>
                </a:solidFill>
                <a:latin typeface="Arial"/>
                <a:ea typeface="Arial"/>
                <a:cs typeface="Arial"/>
              </a:defRPr>
            </a:defPPr>
          </a:lstStyle>
          <a:p xmlns:a="http://schemas.openxmlformats.org/drawingml/2006/main">
            <a:pPr algn="l">
              <a:defRPr sz="1950" b="1">
                <a:solidFill>
                  <a:srgbClr val="137C73"/>
                </a:solidFill>
                <a:latin typeface="Arial"/>
                <a:ea typeface="Arial"/>
                <a:cs typeface="Arial"/>
              </a:defRPr>
            </a:pPr>
            <a:r>
              <a:rPr sz="1950" b="1">
                <a:solidFill>
                  <a:srgbClr val="137C73"/>
                </a:solidFill>
                <a:latin typeface="Arial"/>
                <a:ea typeface="Arial"/>
                <a:cs typeface="Arial"/>
              </a:rPr>
              <a:t>File behavior</a:t>
            </a:r>
          </a:p>
        </p:txBody>
      </p:sp>
      <p:sp>
        <p:nvSpPr>
          <p:cNvPr id="14" name="text-68">
            <a:extLst xmlns:a="http://schemas.openxmlformats.org/drawingml/2006/main">
              <a:ext uri="{FF2B5EF4-FFF2-40B4-BE49-F238E27FC236}">
                <a16:creationId xmlns:a16="http://schemas.microsoft.com/office/drawing/2014/main" id="{03B01098-543F-4BF9-B043-5AA436D5A36F}"/>
              </a:ext>
            </a:extLst>
          </p:cNvPr>
          <p:cNvSpPr>
            <a:spLocks xmlns:a="http://schemas.openxmlformats.org/drawingml/2006/main" noGrp="1"/>
          </p:cNvSpPr>
          <p:nvPr/>
        </p:nvSpPr>
        <p:spPr>
          <a:xfrm xmlns:a="http://schemas.openxmlformats.org/drawingml/2006/main">
            <a:off x="3333750" y="3695700"/>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32F"/>
                </a:solidFill>
                <a:latin typeface="Arial"/>
                <a:ea typeface="Arial"/>
                <a:cs typeface="Arial"/>
              </a:defRPr>
            </a:defPPr>
          </a:lstStyle>
          <a:p xmlns:a="http://schemas.openxmlformats.org/drawingml/2006/main">
            <a:pPr algn="l">
              <a:defRPr sz="1950" b="0">
                <a:solidFill>
                  <a:srgbClr val="17332F"/>
                </a:solidFill>
                <a:latin typeface="Arial"/>
                <a:ea typeface="Arial"/>
                <a:cs typeface="Arial"/>
              </a:defRPr>
            </a:pPr>
            <a:r>
              <a:rPr sz="1950" b="0">
                <a:solidFill>
                  <a:srgbClr val="17332F"/>
                </a:solidFill>
                <a:latin typeface="Arial"/>
                <a:ea typeface="Arial"/>
                <a:cs typeface="Arial"/>
              </a:rPr>
              <a:t>Separating preview from download across browsers</a:t>
            </a:r>
          </a:p>
        </p:txBody>
      </p:sp>
      <p:sp>
        <p:nvSpPr>
          <p:cNvPr id="15" name="">
            <a:extLst xmlns:a="http://schemas.openxmlformats.org/drawingml/2006/main">
              <a:ext uri="{FF2B5EF4-FFF2-40B4-BE49-F238E27FC236}">
                <a16:creationId xmlns:a16="http://schemas.microsoft.com/office/drawing/2014/main" id="{FB6EA6B7-BB79-4A40-8A7C-980EC0439F45}"/>
              </a:ext>
            </a:extLst>
          </p:cNvPr>
          <p:cNvSpPr>
            <a:spLocks xmlns:a="http://schemas.openxmlformats.org/drawingml/2006/main" noGrp="1"/>
          </p:cNvSpPr>
          <p:nvPr/>
        </p:nvSpPr>
        <p:spPr>
          <a:xfrm xmlns:a="http://schemas.openxmlformats.org/drawingml/2006/main">
            <a:off x="571500" y="4305300"/>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16" name="text-69">
            <a:extLst xmlns:a="http://schemas.openxmlformats.org/drawingml/2006/main">
              <a:ext uri="{FF2B5EF4-FFF2-40B4-BE49-F238E27FC236}">
                <a16:creationId xmlns:a16="http://schemas.microsoft.com/office/drawing/2014/main" id="{82FCE735-F3E3-4BDE-A82B-5C2814CEC613}"/>
              </a:ext>
            </a:extLst>
          </p:cNvPr>
          <p:cNvSpPr>
            <a:spLocks xmlns:a="http://schemas.openxmlformats.org/drawingml/2006/main" noGrp="1"/>
          </p:cNvSpPr>
          <p:nvPr/>
        </p:nvSpPr>
        <p:spPr>
          <a:xfrm xmlns:a="http://schemas.openxmlformats.org/drawingml/2006/main">
            <a:off x="571500" y="44481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C73"/>
                </a:solidFill>
                <a:latin typeface="Arial"/>
                <a:ea typeface="Arial"/>
                <a:cs typeface="Arial"/>
              </a:defRPr>
            </a:defPPr>
          </a:lstStyle>
          <a:p xmlns:a="http://schemas.openxmlformats.org/drawingml/2006/main">
            <a:pPr algn="l">
              <a:defRPr sz="1950" b="1">
                <a:solidFill>
                  <a:srgbClr val="137C73"/>
                </a:solidFill>
                <a:latin typeface="Arial"/>
                <a:ea typeface="Arial"/>
                <a:cs typeface="Arial"/>
              </a:defRPr>
            </a:pPr>
            <a:r>
              <a:rPr sz="1950" b="1">
                <a:solidFill>
                  <a:srgbClr val="137C73"/>
                </a:solidFill>
                <a:latin typeface="Arial"/>
                <a:ea typeface="Arial"/>
                <a:cs typeface="Arial"/>
              </a:rPr>
              <a:t>Deployment</a:t>
            </a:r>
          </a:p>
        </p:txBody>
      </p:sp>
      <p:sp>
        <p:nvSpPr>
          <p:cNvPr id="17" name="text-70">
            <a:extLst xmlns:a="http://schemas.openxmlformats.org/drawingml/2006/main">
              <a:ext uri="{FF2B5EF4-FFF2-40B4-BE49-F238E27FC236}">
                <a16:creationId xmlns:a16="http://schemas.microsoft.com/office/drawing/2014/main" id="{B0248508-1954-4BF5-82A7-FD936F6C6957}"/>
              </a:ext>
            </a:extLst>
          </p:cNvPr>
          <p:cNvSpPr>
            <a:spLocks xmlns:a="http://schemas.openxmlformats.org/drawingml/2006/main" noGrp="1"/>
          </p:cNvSpPr>
          <p:nvPr/>
        </p:nvSpPr>
        <p:spPr>
          <a:xfrm xmlns:a="http://schemas.openxmlformats.org/drawingml/2006/main">
            <a:off x="3333750" y="4448175"/>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32F"/>
                </a:solidFill>
                <a:latin typeface="Arial"/>
                <a:ea typeface="Arial"/>
                <a:cs typeface="Arial"/>
              </a:defRPr>
            </a:defPPr>
          </a:lstStyle>
          <a:p xmlns:a="http://schemas.openxmlformats.org/drawingml/2006/main">
            <a:pPr algn="l">
              <a:defRPr sz="1950" b="0">
                <a:solidFill>
                  <a:srgbClr val="17332F"/>
                </a:solidFill>
                <a:latin typeface="Arial"/>
                <a:ea typeface="Arial"/>
                <a:cs typeface="Arial"/>
              </a:defRPr>
            </a:pPr>
            <a:r>
              <a:rPr sz="1950" b="0">
                <a:solidFill>
                  <a:srgbClr val="17332F"/>
                </a:solidFill>
                <a:latin typeface="Arial"/>
                <a:ea typeface="Arial"/>
                <a:cs typeface="Arial"/>
              </a:rPr>
              <a:t>Diagnosing image, proxy and release mismatches</a:t>
            </a:r>
          </a:p>
        </p:txBody>
      </p:sp>
      <p:sp>
        <p:nvSpPr>
          <p:cNvPr id="18" name="">
            <a:extLst xmlns:a="http://schemas.openxmlformats.org/drawingml/2006/main">
              <a:ext uri="{FF2B5EF4-FFF2-40B4-BE49-F238E27FC236}">
                <a16:creationId xmlns:a16="http://schemas.microsoft.com/office/drawing/2014/main" id="{C70DC110-C861-420D-96A7-27BEA7DC227A}"/>
              </a:ext>
            </a:extLst>
          </p:cNvPr>
          <p:cNvSpPr>
            <a:spLocks xmlns:a="http://schemas.openxmlformats.org/drawingml/2006/main" noGrp="1"/>
          </p:cNvSpPr>
          <p:nvPr/>
        </p:nvSpPr>
        <p:spPr>
          <a:xfrm xmlns:a="http://schemas.openxmlformats.org/drawingml/2006/main">
            <a:off x="571500" y="5057775"/>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19" name="text-71">
            <a:extLst xmlns:a="http://schemas.openxmlformats.org/drawingml/2006/main">
              <a:ext uri="{FF2B5EF4-FFF2-40B4-BE49-F238E27FC236}">
                <a16:creationId xmlns:a16="http://schemas.microsoft.com/office/drawing/2014/main" id="{09BF07D7-6806-4F27-9160-7F6E6BCE620C}"/>
              </a:ext>
            </a:extLst>
          </p:cNvPr>
          <p:cNvSpPr>
            <a:spLocks xmlns:a="http://schemas.openxmlformats.org/drawingml/2006/main" noGrp="1"/>
          </p:cNvSpPr>
          <p:nvPr/>
        </p:nvSpPr>
        <p:spPr>
          <a:xfrm xmlns:a="http://schemas.openxmlformats.org/drawingml/2006/main">
            <a:off x="571500" y="52006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C73"/>
                </a:solidFill>
                <a:latin typeface="Arial"/>
                <a:ea typeface="Arial"/>
                <a:cs typeface="Arial"/>
              </a:defRPr>
            </a:defPPr>
          </a:lstStyle>
          <a:p xmlns:a="http://schemas.openxmlformats.org/drawingml/2006/main">
            <a:pPr algn="l">
              <a:defRPr sz="1950" b="1">
                <a:solidFill>
                  <a:srgbClr val="137C73"/>
                </a:solidFill>
                <a:latin typeface="Arial"/>
                <a:ea typeface="Arial"/>
                <a:cs typeface="Arial"/>
              </a:defRPr>
            </a:pPr>
            <a:r>
              <a:rPr sz="1950" b="1">
                <a:solidFill>
                  <a:srgbClr val="137C73"/>
                </a:solidFill>
                <a:latin typeface="Arial"/>
                <a:ea typeface="Arial"/>
                <a:cs typeface="Arial"/>
              </a:rPr>
              <a:t>Team integration</a:t>
            </a:r>
          </a:p>
        </p:txBody>
      </p:sp>
      <p:sp>
        <p:nvSpPr>
          <p:cNvPr id="20" name="text-72">
            <a:extLst xmlns:a="http://schemas.openxmlformats.org/drawingml/2006/main">
              <a:ext uri="{FF2B5EF4-FFF2-40B4-BE49-F238E27FC236}">
                <a16:creationId xmlns:a16="http://schemas.microsoft.com/office/drawing/2014/main" id="{B0782BD0-5E65-4E65-8F4F-7EA121E59E55}"/>
              </a:ext>
            </a:extLst>
          </p:cNvPr>
          <p:cNvSpPr>
            <a:spLocks xmlns:a="http://schemas.openxmlformats.org/drawingml/2006/main" noGrp="1"/>
          </p:cNvSpPr>
          <p:nvPr/>
        </p:nvSpPr>
        <p:spPr>
          <a:xfrm xmlns:a="http://schemas.openxmlformats.org/drawingml/2006/main">
            <a:off x="3333750" y="5200650"/>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32F"/>
                </a:solidFill>
                <a:latin typeface="Arial"/>
                <a:ea typeface="Arial"/>
                <a:cs typeface="Arial"/>
              </a:defRPr>
            </a:defPPr>
          </a:lstStyle>
          <a:p xmlns:a="http://schemas.openxmlformats.org/drawingml/2006/main">
            <a:pPr algn="l">
              <a:defRPr sz="1950" b="0">
                <a:solidFill>
                  <a:srgbClr val="17332F"/>
                </a:solidFill>
                <a:latin typeface="Arial"/>
                <a:ea typeface="Arial"/>
                <a:cs typeface="Arial"/>
              </a:defRPr>
            </a:pPr>
            <a:r>
              <a:rPr sz="1950" b="0">
                <a:solidFill>
                  <a:srgbClr val="17332F"/>
                </a:solidFill>
                <a:latin typeface="Arial"/>
                <a:ea typeface="Arial"/>
                <a:cs typeface="Arial"/>
              </a:rPr>
              <a:t>Combining contributions and resolving merge conflicts</a:t>
            </a:r>
          </a:p>
        </p:txBody>
      </p:sp>
    </p:spTree>
    <p:extLst>
      <p:ext uri="{BB962C8B-B14F-4D97-AF65-F5344CB8AC3E}">
        <p14:creationId xmlns:p14="http://schemas.microsoft.com/office/powerpoint/2010/main" val="15391148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278A6728-8FB5-4D7B-8C76-9CCD9E31EFC2}"/>
              </a:ext>
            </a:extLst>
          </p:cNvPr>
          <p:cNvCxnSpPr>
            <a:stCxn xmlns:a="http://schemas.openxmlformats.org/drawingml/2006/main" id="22" idx="3"/>
            <a:endCxn xmlns:a="http://schemas.openxmlformats.org/drawingml/2006/main" id="23" idx="1"/>
          </p:cNvCxnSpPr>
          <p:nvPr/>
        </p:nvCxnSpPr>
        <p:spPr>
          <a:xfrm xmlns:a="http://schemas.openxmlformats.org/drawingml/2006/main">
            <a:off x="4905375" y="5676900"/>
            <a:ext cx="1000125" cy="0"/>
          </a:xfrm>
          <a:prstGeom xmlns:a="http://schemas.openxmlformats.org/drawingml/2006/main" prst="straightConnector1">
            <a:avLst/>
          </a:prstGeom>
          <a:ln xmlns:a="http://schemas.openxmlformats.org/drawingml/2006/main" w="15240">
            <a:solidFill>
              <a:srgbClr val="137C73"/>
            </a:solidFill>
            <a:tailEnd type="triangle" w="sm" len="sm"/>
          </a:ln>
        </p:spPr>
      </p:cxnSp>
      <p:cxnSp>
        <p:nvCxnSpPr>
          <p:cNvPr id="20" name="">
            <a:extLst xmlns:a="http://schemas.openxmlformats.org/drawingml/2006/main">
              <a:ext uri="{FF2B5EF4-FFF2-40B4-BE49-F238E27FC236}">
                <a16:creationId xmlns:a16="http://schemas.microsoft.com/office/drawing/2014/main" id="{610869D1-616D-4022-B0C6-8387567E3E52}"/>
              </a:ext>
            </a:extLst>
          </p:cNvPr>
          <p:cNvCxnSpPr>
            <a:stCxn xmlns:a="http://schemas.openxmlformats.org/drawingml/2006/main" id="18" idx="3"/>
            <a:endCxn xmlns:a="http://schemas.openxmlformats.org/drawingml/2006/main" id="19" idx="1"/>
          </p:cNvCxnSpPr>
          <p:nvPr/>
        </p:nvCxnSpPr>
        <p:spPr>
          <a:xfrm xmlns:a="http://schemas.openxmlformats.org/drawingml/2006/main">
            <a:off x="4905375" y="4838700"/>
            <a:ext cx="1000125" cy="0"/>
          </a:xfrm>
          <a:prstGeom xmlns:a="http://schemas.openxmlformats.org/drawingml/2006/main" prst="straightConnector1">
            <a:avLst/>
          </a:prstGeom>
          <a:ln xmlns:a="http://schemas.openxmlformats.org/drawingml/2006/main" w="15240">
            <a:solidFill>
              <a:srgbClr val="137C73"/>
            </a:solidFill>
            <a:tailEnd type="triangle" w="sm" len="sm"/>
          </a:ln>
        </p:spPr>
      </p:cxnSp>
      <p:cxnSp>
        <p:nvCxnSpPr>
          <p:cNvPr id="16" name="">
            <a:extLst xmlns:a="http://schemas.openxmlformats.org/drawingml/2006/main">
              <a:ext uri="{FF2B5EF4-FFF2-40B4-BE49-F238E27FC236}">
                <a16:creationId xmlns:a16="http://schemas.microsoft.com/office/drawing/2014/main" id="{641EE223-8099-4211-9BF1-9F970FBB171C}"/>
              </a:ext>
            </a:extLst>
          </p:cNvPr>
          <p:cNvCxnSpPr>
            <a:stCxn xmlns:a="http://schemas.openxmlformats.org/drawingml/2006/main" id="14" idx="3"/>
            <a:endCxn xmlns:a="http://schemas.openxmlformats.org/drawingml/2006/main" id="15" idx="1"/>
          </p:cNvCxnSpPr>
          <p:nvPr/>
        </p:nvCxnSpPr>
        <p:spPr>
          <a:xfrm xmlns:a="http://schemas.openxmlformats.org/drawingml/2006/main">
            <a:off x="4905375" y="4000500"/>
            <a:ext cx="1000125" cy="0"/>
          </a:xfrm>
          <a:prstGeom xmlns:a="http://schemas.openxmlformats.org/drawingml/2006/main" prst="straightConnector1">
            <a:avLst/>
          </a:prstGeom>
          <a:ln xmlns:a="http://schemas.openxmlformats.org/drawingml/2006/main" w="15240">
            <a:solidFill>
              <a:srgbClr val="137C73"/>
            </a:solidFill>
            <a:tailEnd type="triangle" w="sm" len="sm"/>
          </a:ln>
        </p:spPr>
      </p:cxnSp>
      <p:cxnSp>
        <p:nvCxnSpPr>
          <p:cNvPr id="12" name="">
            <a:extLst xmlns:a="http://schemas.openxmlformats.org/drawingml/2006/main">
              <a:ext uri="{FF2B5EF4-FFF2-40B4-BE49-F238E27FC236}">
                <a16:creationId xmlns:a16="http://schemas.microsoft.com/office/drawing/2014/main" id="{C0170D85-00D1-49C7-9E84-AB0B8E2373CE}"/>
              </a:ext>
            </a:extLst>
          </p:cNvPr>
          <p:cNvCxnSpPr>
            <a:stCxn xmlns:a="http://schemas.openxmlformats.org/drawingml/2006/main" id="10" idx="3"/>
            <a:endCxn xmlns:a="http://schemas.openxmlformats.org/drawingml/2006/main" id="11" idx="1"/>
          </p:cNvCxnSpPr>
          <p:nvPr/>
        </p:nvCxnSpPr>
        <p:spPr>
          <a:xfrm xmlns:a="http://schemas.openxmlformats.org/drawingml/2006/main">
            <a:off x="4905375" y="3162300"/>
            <a:ext cx="1000125" cy="0"/>
          </a:xfrm>
          <a:prstGeom xmlns:a="http://schemas.openxmlformats.org/drawingml/2006/main" prst="straightConnector1">
            <a:avLst/>
          </a:prstGeom>
          <a:ln xmlns:a="http://schemas.openxmlformats.org/drawingml/2006/main" w="15240">
            <a:solidFill>
              <a:srgbClr val="137C73"/>
            </a:solidFill>
            <a:tailEnd type="triangle" w="sm" len="sm"/>
          </a:ln>
        </p:spPr>
      </p:cxnSp>
      <p:cxnSp>
        <p:nvCxnSpPr>
          <p:cNvPr id="8" name="">
            <a:extLst xmlns:a="http://schemas.openxmlformats.org/drawingml/2006/main">
              <a:ext uri="{FF2B5EF4-FFF2-40B4-BE49-F238E27FC236}">
                <a16:creationId xmlns:a16="http://schemas.microsoft.com/office/drawing/2014/main" id="{8303C146-01A0-470F-B39A-2F476F0B8DA6}"/>
              </a:ext>
            </a:extLst>
          </p:cNvPr>
          <p:cNvCxnSpPr>
            <a:stCxn xmlns:a="http://schemas.openxmlformats.org/drawingml/2006/main" id="6" idx="3"/>
            <a:endCxn xmlns:a="http://schemas.openxmlformats.org/drawingml/2006/main" id="7" idx="1"/>
          </p:cNvCxnSpPr>
          <p:nvPr/>
        </p:nvCxnSpPr>
        <p:spPr>
          <a:xfrm xmlns:a="http://schemas.openxmlformats.org/drawingml/2006/main">
            <a:off x="4905375" y="2324100"/>
            <a:ext cx="1000125" cy="0"/>
          </a:xfrm>
          <a:prstGeom xmlns:a="http://schemas.openxmlformats.org/drawingml/2006/main" prst="straightConnector1">
            <a:avLst/>
          </a:prstGeom>
          <a:ln xmlns:a="http://schemas.openxmlformats.org/drawingml/2006/main" w="15240">
            <a:solidFill>
              <a:srgbClr val="137C73"/>
            </a:solidFill>
            <a:tailEnd type="triangle" w="sm" len="sm"/>
          </a:ln>
        </p:spPr>
      </p:cxnSp>
      <p:sp>
        <p:nvSpPr>
          <p:cNvPr id="25" name="text-73">
            <a:extLst xmlns:a="http://schemas.openxmlformats.org/drawingml/2006/main">
              <a:ext uri="{FF2B5EF4-FFF2-40B4-BE49-F238E27FC236}">
                <a16:creationId xmlns:a16="http://schemas.microsoft.com/office/drawing/2014/main" id="{22E5AF8D-F210-4D31-96F0-3E3C60C101C9}"/>
              </a:ext>
            </a:extLst>
          </p:cNvPr>
          <p:cNvSpPr>
            <a:spLocks xmlns:a="http://schemas.openxmlformats.org/drawingml/2006/main" noGrp="1"/>
          </p:cNvSpPr>
          <p:nvPr/>
        </p:nvSpPr>
        <p:spPr>
          <a:xfrm xmlns:a="http://schemas.openxmlformats.org/drawingml/2006/main">
            <a:off x="571500" y="38100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7332F"/>
                </a:solidFill>
                <a:latin typeface="Arial"/>
                <a:ea typeface="Arial"/>
                <a:cs typeface="Arial"/>
              </a:defRPr>
            </a:defPPr>
          </a:lstStyle>
          <a:p xmlns:a="http://schemas.openxmlformats.org/drawingml/2006/main">
            <a:pPr algn="l">
              <a:defRPr sz="3000" b="1">
                <a:solidFill>
                  <a:srgbClr val="17332F"/>
                </a:solidFill>
                <a:latin typeface="Arial"/>
                <a:ea typeface="Arial"/>
                <a:cs typeface="Arial"/>
              </a:defRPr>
            </a:pPr>
            <a:r>
              <a:rPr sz="3000" b="1">
                <a:solidFill>
                  <a:srgbClr val="17332F"/>
                </a:solidFill>
                <a:latin typeface="Arial"/>
                <a:ea typeface="Arial"/>
                <a:cs typeface="Arial"/>
              </a:rPr>
              <a:t>How We Solved the Challenges</a:t>
            </a:r>
          </a:p>
        </p:txBody>
      </p:sp>
      <p:sp>
        <p:nvSpPr>
          <p:cNvPr id="2" name="">
            <a:extLst xmlns:a="http://schemas.openxmlformats.org/drawingml/2006/main">
              <a:ext uri="{FF2B5EF4-FFF2-40B4-BE49-F238E27FC236}">
                <a16:creationId xmlns:a16="http://schemas.microsoft.com/office/drawing/2014/main" id="{6467133B-82DF-486B-A786-568F9F295DA0}"/>
              </a:ext>
            </a:extLst>
          </p:cNvPr>
          <p:cNvSpPr>
            <a:spLocks xmlns:a="http://schemas.openxmlformats.org/drawingml/2006/main" noGrp="1"/>
          </p:cNvSpPr>
          <p:nvPr/>
        </p:nvSpPr>
        <p:spPr>
          <a:xfrm xmlns:a="http://schemas.openxmlformats.org/drawingml/2006/main">
            <a:off x="571500" y="1095375"/>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3" name="text-74">
            <a:extLst xmlns:a="http://schemas.openxmlformats.org/drawingml/2006/main">
              <a:ext uri="{FF2B5EF4-FFF2-40B4-BE49-F238E27FC236}">
                <a16:creationId xmlns:a16="http://schemas.microsoft.com/office/drawing/2014/main" id="{F0F78854-BDE1-4C62-9CFC-F468D7D31B4A}"/>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71807C"/>
                </a:solidFill>
                <a:latin typeface="Arial"/>
                <a:ea typeface="Arial"/>
                <a:cs typeface="Arial"/>
              </a:defRPr>
            </a:defPPr>
          </a:lstStyle>
          <a:p xmlns:a="http://schemas.openxmlformats.org/drawingml/2006/main">
            <a:pPr algn="r">
              <a:defRPr sz="1125" b="0">
                <a:solidFill>
                  <a:srgbClr val="71807C"/>
                </a:solidFill>
                <a:latin typeface="Arial"/>
                <a:ea typeface="Arial"/>
                <a:cs typeface="Arial"/>
              </a:defRPr>
            </a:pPr>
            <a:r>
              <a:rPr sz="1125" b="0">
                <a:solidFill>
                  <a:srgbClr val="71807C"/>
                </a:solidFill>
                <a:latin typeface="Arial"/>
                <a:ea typeface="Arial"/>
                <a:cs typeface="Arial"/>
              </a:rPr>
              <a:t>08</a:t>
            </a:r>
          </a:p>
        </p:txBody>
      </p:sp>
      <p:sp>
        <p:nvSpPr>
          <p:cNvPr id="4" name="text-75">
            <a:extLst xmlns:a="http://schemas.openxmlformats.org/drawingml/2006/main">
              <a:ext uri="{FF2B5EF4-FFF2-40B4-BE49-F238E27FC236}">
                <a16:creationId xmlns:a16="http://schemas.microsoft.com/office/drawing/2014/main" id="{80363BA1-6164-4F4F-9C51-EEA2ECD93F77}"/>
              </a:ext>
            </a:extLst>
          </p:cNvPr>
          <p:cNvSpPr>
            <a:spLocks xmlns:a="http://schemas.openxmlformats.org/drawingml/2006/main" noGrp="1"/>
          </p:cNvSpPr>
          <p:nvPr/>
        </p:nvSpPr>
        <p:spPr>
          <a:xfrm xmlns:a="http://schemas.openxmlformats.org/drawingml/2006/main">
            <a:off x="571500" y="140970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526561"/>
                </a:solidFill>
                <a:latin typeface="Arial"/>
                <a:ea typeface="Arial"/>
                <a:cs typeface="Arial"/>
              </a:defRPr>
            </a:defPPr>
          </a:lstStyle>
          <a:p xmlns:a="http://schemas.openxmlformats.org/drawingml/2006/main">
            <a:pPr algn="l">
              <a:defRPr sz="1950" b="1">
                <a:solidFill>
                  <a:srgbClr val="526561"/>
                </a:solidFill>
                <a:latin typeface="Arial"/>
                <a:ea typeface="Arial"/>
                <a:cs typeface="Arial"/>
              </a:defRPr>
            </a:pPr>
            <a:r>
              <a:rPr sz="1950" b="1">
                <a:solidFill>
                  <a:srgbClr val="526561"/>
                </a:solidFill>
                <a:latin typeface="Arial"/>
                <a:ea typeface="Arial"/>
                <a:cs typeface="Arial"/>
              </a:rPr>
              <a:t>Challenge</a:t>
            </a:r>
          </a:p>
        </p:txBody>
      </p:sp>
      <p:sp>
        <p:nvSpPr>
          <p:cNvPr id="5" name="text-76">
            <a:extLst xmlns:a="http://schemas.openxmlformats.org/drawingml/2006/main">
              <a:ext uri="{FF2B5EF4-FFF2-40B4-BE49-F238E27FC236}">
                <a16:creationId xmlns:a16="http://schemas.microsoft.com/office/drawing/2014/main" id="{39A66B6E-0C8D-40DB-90C9-60BAD8BE35C8}"/>
              </a:ext>
            </a:extLst>
          </p:cNvPr>
          <p:cNvSpPr>
            <a:spLocks xmlns:a="http://schemas.openxmlformats.org/drawingml/2006/main" noGrp="1"/>
          </p:cNvSpPr>
          <p:nvPr/>
        </p:nvSpPr>
        <p:spPr>
          <a:xfrm xmlns:a="http://schemas.openxmlformats.org/drawingml/2006/main">
            <a:off x="5905500" y="1409700"/>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C73"/>
                </a:solidFill>
                <a:latin typeface="Arial"/>
                <a:ea typeface="Arial"/>
                <a:cs typeface="Arial"/>
              </a:defRPr>
            </a:defPPr>
          </a:lstStyle>
          <a:p xmlns:a="http://schemas.openxmlformats.org/drawingml/2006/main">
            <a:pPr algn="l">
              <a:defRPr sz="1950" b="1">
                <a:solidFill>
                  <a:srgbClr val="137C73"/>
                </a:solidFill>
                <a:latin typeface="Arial"/>
                <a:ea typeface="Arial"/>
                <a:cs typeface="Arial"/>
              </a:defRPr>
            </a:pPr>
            <a:r>
              <a:rPr sz="1950" b="1">
                <a:solidFill>
                  <a:srgbClr val="137C73"/>
                </a:solidFill>
                <a:latin typeface="Arial"/>
                <a:ea typeface="Arial"/>
                <a:cs typeface="Arial"/>
              </a:rPr>
              <a:t>Solution implemented</a:t>
            </a:r>
          </a:p>
        </p:txBody>
      </p:sp>
      <p:sp>
        <p:nvSpPr>
          <p:cNvPr id="6" name="text-77">
            <a:extLst xmlns:a="http://schemas.openxmlformats.org/drawingml/2006/main">
              <a:ext uri="{FF2B5EF4-FFF2-40B4-BE49-F238E27FC236}">
                <a16:creationId xmlns:a16="http://schemas.microsoft.com/office/drawing/2014/main" id="{C47D4C0F-327D-4DC4-97F9-C32D1B644883}"/>
              </a:ext>
            </a:extLst>
          </p:cNvPr>
          <p:cNvSpPr>
            <a:spLocks xmlns:a="http://schemas.openxmlformats.org/drawingml/2006/main" noGrp="1"/>
          </p:cNvSpPr>
          <p:nvPr/>
        </p:nvSpPr>
        <p:spPr>
          <a:xfrm xmlns:a="http://schemas.openxmlformats.org/drawingml/2006/main">
            <a:off x="571500" y="20097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Service access and configuration</a:t>
            </a:r>
          </a:p>
        </p:txBody>
      </p:sp>
      <p:sp>
        <p:nvSpPr>
          <p:cNvPr id="7" name="text-78">
            <a:extLst xmlns:a="http://schemas.openxmlformats.org/drawingml/2006/main">
              <a:ext uri="{FF2B5EF4-FFF2-40B4-BE49-F238E27FC236}">
                <a16:creationId xmlns:a16="http://schemas.microsoft.com/office/drawing/2014/main" id="{F8BF30A7-7112-4C5D-96FB-2786704ED7D1}"/>
              </a:ext>
            </a:extLst>
          </p:cNvPr>
          <p:cNvSpPr>
            <a:spLocks xmlns:a="http://schemas.openxmlformats.org/drawingml/2006/main" noGrp="1"/>
          </p:cNvSpPr>
          <p:nvPr/>
        </p:nvSpPr>
        <p:spPr>
          <a:xfrm xmlns:a="http://schemas.openxmlformats.org/drawingml/2006/main">
            <a:off x="5905500" y="2009775"/>
            <a:ext cx="560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AWS access setup and server environment configuration</a:t>
            </a:r>
          </a:p>
        </p:txBody>
      </p:sp>
      <p:sp>
        <p:nvSpPr>
          <p:cNvPr id="9" name="">
            <a:extLst xmlns:a="http://schemas.openxmlformats.org/drawingml/2006/main">
              <a:ext uri="{FF2B5EF4-FFF2-40B4-BE49-F238E27FC236}">
                <a16:creationId xmlns:a16="http://schemas.microsoft.com/office/drawing/2014/main" id="{00A3E27C-1C00-4708-9CDC-3B46168D5235}"/>
              </a:ext>
            </a:extLst>
          </p:cNvPr>
          <p:cNvSpPr>
            <a:spLocks xmlns:a="http://schemas.openxmlformats.org/drawingml/2006/main" noGrp="1"/>
          </p:cNvSpPr>
          <p:nvPr/>
        </p:nvSpPr>
        <p:spPr>
          <a:xfrm xmlns:a="http://schemas.openxmlformats.org/drawingml/2006/main">
            <a:off x="571500" y="2705100"/>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10" name="text-79">
            <a:extLst xmlns:a="http://schemas.openxmlformats.org/drawingml/2006/main">
              <a:ext uri="{FF2B5EF4-FFF2-40B4-BE49-F238E27FC236}">
                <a16:creationId xmlns:a16="http://schemas.microsoft.com/office/drawing/2014/main" id="{BF9CCFA5-D32F-40EB-A0A6-7C0F88467219}"/>
              </a:ext>
            </a:extLst>
          </p:cNvPr>
          <p:cNvSpPr>
            <a:spLocks xmlns:a="http://schemas.openxmlformats.org/drawingml/2006/main" noGrp="1"/>
          </p:cNvSpPr>
          <p:nvPr/>
        </p:nvSpPr>
        <p:spPr>
          <a:xfrm xmlns:a="http://schemas.openxmlformats.org/drawingml/2006/main">
            <a:off x="571500" y="28479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Different runtime environments</a:t>
            </a:r>
          </a:p>
        </p:txBody>
      </p:sp>
      <p:sp>
        <p:nvSpPr>
          <p:cNvPr id="11" name="text-80">
            <a:extLst xmlns:a="http://schemas.openxmlformats.org/drawingml/2006/main">
              <a:ext uri="{FF2B5EF4-FFF2-40B4-BE49-F238E27FC236}">
                <a16:creationId xmlns:a16="http://schemas.microsoft.com/office/drawing/2014/main" id="{37175D03-701F-4753-AFA6-652E32650E9F}"/>
              </a:ext>
            </a:extLst>
          </p:cNvPr>
          <p:cNvSpPr>
            <a:spLocks xmlns:a="http://schemas.openxmlformats.org/drawingml/2006/main" noGrp="1"/>
          </p:cNvSpPr>
          <p:nvPr/>
        </p:nvSpPr>
        <p:spPr>
          <a:xfrm xmlns:a="http://schemas.openxmlformats.org/drawingml/2006/main">
            <a:off x="5905500" y="2847975"/>
            <a:ext cx="560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Docker images and a shared Compose deployment</a:t>
            </a:r>
          </a:p>
        </p:txBody>
      </p:sp>
      <p:sp>
        <p:nvSpPr>
          <p:cNvPr id="13" name="">
            <a:extLst xmlns:a="http://schemas.openxmlformats.org/drawingml/2006/main">
              <a:ext uri="{FF2B5EF4-FFF2-40B4-BE49-F238E27FC236}">
                <a16:creationId xmlns:a16="http://schemas.microsoft.com/office/drawing/2014/main" id="{7C47BCCC-D3BF-44C6-BE90-98D800FEE05A}"/>
              </a:ext>
            </a:extLst>
          </p:cNvPr>
          <p:cNvSpPr>
            <a:spLocks xmlns:a="http://schemas.openxmlformats.org/drawingml/2006/main" noGrp="1"/>
          </p:cNvSpPr>
          <p:nvPr/>
        </p:nvSpPr>
        <p:spPr>
          <a:xfrm xmlns:a="http://schemas.openxmlformats.org/drawingml/2006/main">
            <a:off x="571500" y="3543300"/>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14" name="text-81">
            <a:extLst xmlns:a="http://schemas.openxmlformats.org/drawingml/2006/main">
              <a:ext uri="{FF2B5EF4-FFF2-40B4-BE49-F238E27FC236}">
                <a16:creationId xmlns:a16="http://schemas.microsoft.com/office/drawing/2014/main" id="{6AFA6F1F-3EC6-4C0A-83BA-740729244D69}"/>
              </a:ext>
            </a:extLst>
          </p:cNvPr>
          <p:cNvSpPr>
            <a:spLocks xmlns:a="http://schemas.openxmlformats.org/drawingml/2006/main" noGrp="1"/>
          </p:cNvSpPr>
          <p:nvPr/>
        </p:nvSpPr>
        <p:spPr>
          <a:xfrm xmlns:a="http://schemas.openxmlformats.org/drawingml/2006/main">
            <a:off x="571500" y="36861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Frontend/backend mismatches</a:t>
            </a:r>
          </a:p>
        </p:txBody>
      </p:sp>
      <p:sp>
        <p:nvSpPr>
          <p:cNvPr id="15" name="text-82">
            <a:extLst xmlns:a="http://schemas.openxmlformats.org/drawingml/2006/main">
              <a:ext uri="{FF2B5EF4-FFF2-40B4-BE49-F238E27FC236}">
                <a16:creationId xmlns:a16="http://schemas.microsoft.com/office/drawing/2014/main" id="{2BA38E5D-BBBE-4FC6-9664-9F1CCA7E7706}"/>
              </a:ext>
            </a:extLst>
          </p:cNvPr>
          <p:cNvSpPr>
            <a:spLocks xmlns:a="http://schemas.openxmlformats.org/drawingml/2006/main" noGrp="1"/>
          </p:cNvSpPr>
          <p:nvPr/>
        </p:nvSpPr>
        <p:spPr>
          <a:xfrm xmlns:a="http://schemas.openxmlformats.org/drawingml/2006/main">
            <a:off x="5905500" y="3686175"/>
            <a:ext cx="560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Defined API contracts and integration checks</a:t>
            </a:r>
          </a:p>
        </p:txBody>
      </p:sp>
      <p:sp>
        <p:nvSpPr>
          <p:cNvPr id="17" name="">
            <a:extLst xmlns:a="http://schemas.openxmlformats.org/drawingml/2006/main">
              <a:ext uri="{FF2B5EF4-FFF2-40B4-BE49-F238E27FC236}">
                <a16:creationId xmlns:a16="http://schemas.microsoft.com/office/drawing/2014/main" id="{EFBC6EAA-0851-4971-A8D9-292A7593C458}"/>
              </a:ext>
            </a:extLst>
          </p:cNvPr>
          <p:cNvSpPr>
            <a:spLocks xmlns:a="http://schemas.openxmlformats.org/drawingml/2006/main" noGrp="1"/>
          </p:cNvSpPr>
          <p:nvPr/>
        </p:nvSpPr>
        <p:spPr>
          <a:xfrm xmlns:a="http://schemas.openxmlformats.org/drawingml/2006/main">
            <a:off x="571500" y="4381500"/>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18" name="text-83">
            <a:extLst xmlns:a="http://schemas.openxmlformats.org/drawingml/2006/main">
              <a:ext uri="{FF2B5EF4-FFF2-40B4-BE49-F238E27FC236}">
                <a16:creationId xmlns:a16="http://schemas.microsoft.com/office/drawing/2014/main" id="{8D99C00B-6104-40A4-A44B-F2486D04D640}"/>
              </a:ext>
            </a:extLst>
          </p:cNvPr>
          <p:cNvSpPr>
            <a:spLocks xmlns:a="http://schemas.openxmlformats.org/drawingml/2006/main" noGrp="1"/>
          </p:cNvSpPr>
          <p:nvPr/>
        </p:nvSpPr>
        <p:spPr>
          <a:xfrm xmlns:a="http://schemas.openxmlformats.org/drawingml/2006/main">
            <a:off x="571500" y="45243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File access and browser behavior</a:t>
            </a:r>
          </a:p>
        </p:txBody>
      </p:sp>
      <p:sp>
        <p:nvSpPr>
          <p:cNvPr id="19" name="text-84">
            <a:extLst xmlns:a="http://schemas.openxmlformats.org/drawingml/2006/main">
              <a:ext uri="{FF2B5EF4-FFF2-40B4-BE49-F238E27FC236}">
                <a16:creationId xmlns:a16="http://schemas.microsoft.com/office/drawing/2014/main" id="{BA2EAE9C-8632-4BA7-9E60-A3A5B93A2762}"/>
              </a:ext>
            </a:extLst>
          </p:cNvPr>
          <p:cNvSpPr>
            <a:spLocks xmlns:a="http://schemas.openxmlformats.org/drawingml/2006/main" noGrp="1"/>
          </p:cNvSpPr>
          <p:nvPr/>
        </p:nvSpPr>
        <p:spPr>
          <a:xfrm xmlns:a="http://schemas.openxmlformats.org/drawingml/2006/main">
            <a:off x="5905500" y="4524375"/>
            <a:ext cx="560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JWT ownership checks and signed retrieval URLs</a:t>
            </a:r>
          </a:p>
        </p:txBody>
      </p:sp>
      <p:sp>
        <p:nvSpPr>
          <p:cNvPr id="21" name="">
            <a:extLst xmlns:a="http://schemas.openxmlformats.org/drawingml/2006/main">
              <a:ext uri="{FF2B5EF4-FFF2-40B4-BE49-F238E27FC236}">
                <a16:creationId xmlns:a16="http://schemas.microsoft.com/office/drawing/2014/main" id="{C09EBC27-6040-4BBD-9E2A-5925EF53721B}"/>
              </a:ext>
            </a:extLst>
          </p:cNvPr>
          <p:cNvSpPr>
            <a:spLocks xmlns:a="http://schemas.openxmlformats.org/drawingml/2006/main" noGrp="1"/>
          </p:cNvSpPr>
          <p:nvPr/>
        </p:nvSpPr>
        <p:spPr>
          <a:xfrm xmlns:a="http://schemas.openxmlformats.org/drawingml/2006/main">
            <a:off x="571500" y="5219700"/>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22" name="text-85">
            <a:extLst xmlns:a="http://schemas.openxmlformats.org/drawingml/2006/main">
              <a:ext uri="{FF2B5EF4-FFF2-40B4-BE49-F238E27FC236}">
                <a16:creationId xmlns:a16="http://schemas.microsoft.com/office/drawing/2014/main" id="{89F81FD1-94DB-41B7-BBAC-A3AB138F9156}"/>
              </a:ext>
            </a:extLst>
          </p:cNvPr>
          <p:cNvSpPr>
            <a:spLocks xmlns:a="http://schemas.openxmlformats.org/drawingml/2006/main" noGrp="1"/>
          </p:cNvSpPr>
          <p:nvPr/>
        </p:nvSpPr>
        <p:spPr>
          <a:xfrm xmlns:a="http://schemas.openxmlformats.org/drawingml/2006/main">
            <a:off x="571500" y="53625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Release and team integration</a:t>
            </a:r>
          </a:p>
        </p:txBody>
      </p:sp>
      <p:sp>
        <p:nvSpPr>
          <p:cNvPr id="23" name="text-86">
            <a:extLst xmlns:a="http://schemas.openxmlformats.org/drawingml/2006/main">
              <a:ext uri="{FF2B5EF4-FFF2-40B4-BE49-F238E27FC236}">
                <a16:creationId xmlns:a16="http://schemas.microsoft.com/office/drawing/2014/main" id="{320410B0-4ADA-4245-9B88-20BDC5FA167A}"/>
              </a:ext>
            </a:extLst>
          </p:cNvPr>
          <p:cNvSpPr>
            <a:spLocks xmlns:a="http://schemas.openxmlformats.org/drawingml/2006/main" noGrp="1"/>
          </p:cNvSpPr>
          <p:nvPr/>
        </p:nvSpPr>
        <p:spPr>
          <a:xfrm xmlns:a="http://schemas.openxmlformats.org/drawingml/2006/main">
            <a:off x="5905500" y="5362575"/>
            <a:ext cx="560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2F"/>
                </a:solidFill>
                <a:latin typeface="Arial"/>
                <a:ea typeface="Arial"/>
                <a:cs typeface="Arial"/>
              </a:defRPr>
            </a:defPPr>
          </a:lstStyle>
          <a:p xmlns:a="http://schemas.openxmlformats.org/drawingml/2006/main">
            <a:pPr algn="l">
              <a:defRPr sz="1875" b="0">
                <a:solidFill>
                  <a:srgbClr val="17332F"/>
                </a:solidFill>
                <a:latin typeface="Arial"/>
                <a:ea typeface="Arial"/>
                <a:cs typeface="Arial"/>
              </a:defRPr>
            </a:pPr>
            <a:r>
              <a:rPr sz="1875" b="0">
                <a:solidFill>
                  <a:srgbClr val="17332F"/>
                </a:solidFill>
                <a:latin typeface="Arial"/>
                <a:ea typeface="Arial"/>
                <a:cs typeface="Arial"/>
              </a:rPr>
              <a:t>Automated tests, pull-request reviews and deployment checks</a:t>
            </a:r>
          </a:p>
        </p:txBody>
      </p:sp>
    </p:spTree>
    <p:extLst>
      <p:ext uri="{BB962C8B-B14F-4D97-AF65-F5344CB8AC3E}">
        <p14:creationId xmlns:p14="http://schemas.microsoft.com/office/powerpoint/2010/main" val="10974801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87">
            <a:extLst xmlns:a="http://schemas.openxmlformats.org/drawingml/2006/main">
              <a:ext uri="{FF2B5EF4-FFF2-40B4-BE49-F238E27FC236}">
                <a16:creationId xmlns:a16="http://schemas.microsoft.com/office/drawing/2014/main" id="{54441AB7-24E6-4FE9-B5B0-C502FD610A85}"/>
              </a:ext>
            </a:extLst>
          </p:cNvPr>
          <p:cNvSpPr>
            <a:spLocks xmlns:a="http://schemas.openxmlformats.org/drawingml/2006/main" noGrp="1"/>
          </p:cNvSpPr>
          <p:nvPr/>
        </p:nvSpPr>
        <p:spPr>
          <a:xfrm xmlns:a="http://schemas.openxmlformats.org/drawingml/2006/main">
            <a:off x="571500" y="38100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7332F"/>
                </a:solidFill>
                <a:latin typeface="Arial"/>
                <a:ea typeface="Arial"/>
                <a:cs typeface="Arial"/>
              </a:defRPr>
            </a:defPPr>
          </a:lstStyle>
          <a:p xmlns:a="http://schemas.openxmlformats.org/drawingml/2006/main">
            <a:pPr algn="l">
              <a:defRPr sz="3000" b="1">
                <a:solidFill>
                  <a:srgbClr val="17332F"/>
                </a:solidFill>
                <a:latin typeface="Arial"/>
                <a:ea typeface="Arial"/>
                <a:cs typeface="Arial"/>
              </a:defRPr>
            </a:pPr>
            <a:r>
              <a:rPr sz="3000" b="1">
                <a:solidFill>
                  <a:srgbClr val="17332F"/>
                </a:solidFill>
                <a:latin typeface="Arial"/>
                <a:ea typeface="Arial"/>
                <a:cs typeface="Arial"/>
              </a:rPr>
              <a:t>What We Achieved</a:t>
            </a:r>
          </a:p>
        </p:txBody>
      </p:sp>
      <p:sp>
        <p:nvSpPr>
          <p:cNvPr id="2" name="">
            <a:extLst xmlns:a="http://schemas.openxmlformats.org/drawingml/2006/main">
              <a:ext uri="{FF2B5EF4-FFF2-40B4-BE49-F238E27FC236}">
                <a16:creationId xmlns:a16="http://schemas.microsoft.com/office/drawing/2014/main" id="{01A04C55-0F65-4B03-A19B-A4E0A425A3EA}"/>
              </a:ext>
            </a:extLst>
          </p:cNvPr>
          <p:cNvSpPr>
            <a:spLocks xmlns:a="http://schemas.openxmlformats.org/drawingml/2006/main" noGrp="1"/>
          </p:cNvSpPr>
          <p:nvPr/>
        </p:nvSpPr>
        <p:spPr>
          <a:xfrm xmlns:a="http://schemas.openxmlformats.org/drawingml/2006/main">
            <a:off x="571500" y="1095375"/>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3" name="text-88">
            <a:extLst xmlns:a="http://schemas.openxmlformats.org/drawingml/2006/main">
              <a:ext uri="{FF2B5EF4-FFF2-40B4-BE49-F238E27FC236}">
                <a16:creationId xmlns:a16="http://schemas.microsoft.com/office/drawing/2014/main" id="{B8299A95-08AC-49F2-9032-91288677D444}"/>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71807C"/>
                </a:solidFill>
                <a:latin typeface="Arial"/>
                <a:ea typeface="Arial"/>
                <a:cs typeface="Arial"/>
              </a:defRPr>
            </a:defPPr>
          </a:lstStyle>
          <a:p xmlns:a="http://schemas.openxmlformats.org/drawingml/2006/main">
            <a:pPr algn="r">
              <a:defRPr sz="1125" b="0">
                <a:solidFill>
                  <a:srgbClr val="71807C"/>
                </a:solidFill>
                <a:latin typeface="Arial"/>
                <a:ea typeface="Arial"/>
                <a:cs typeface="Arial"/>
              </a:defRPr>
            </a:pPr>
            <a:r>
              <a:rPr sz="1125" b="0">
                <a:solidFill>
                  <a:srgbClr val="71807C"/>
                </a:solidFill>
                <a:latin typeface="Arial"/>
                <a:ea typeface="Arial"/>
                <a:cs typeface="Arial"/>
              </a:rPr>
              <a:t>09</a:t>
            </a:r>
          </a:p>
        </p:txBody>
      </p:sp>
      <p:sp>
        <p:nvSpPr>
          <p:cNvPr id="4" name="text-89">
            <a:extLst xmlns:a="http://schemas.openxmlformats.org/drawingml/2006/main">
              <a:ext uri="{FF2B5EF4-FFF2-40B4-BE49-F238E27FC236}">
                <a16:creationId xmlns:a16="http://schemas.microsoft.com/office/drawing/2014/main" id="{6B73FFAB-8434-4F5C-BA53-09DAABE25FF8}"/>
              </a:ext>
            </a:extLst>
          </p:cNvPr>
          <p:cNvSpPr>
            <a:spLocks xmlns:a="http://schemas.openxmlformats.org/drawingml/2006/main" noGrp="1"/>
          </p:cNvSpPr>
          <p:nvPr/>
        </p:nvSpPr>
        <p:spPr>
          <a:xfrm xmlns:a="http://schemas.openxmlformats.org/drawingml/2006/main">
            <a:off x="571500" y="1495425"/>
            <a:ext cx="4476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332F"/>
                </a:solidFill>
                <a:latin typeface="Arial"/>
                <a:ea typeface="Arial"/>
                <a:cs typeface="Arial"/>
              </a:defRPr>
            </a:defPPr>
          </a:lstStyle>
          <a:p xmlns:a="http://schemas.openxmlformats.org/drawingml/2006/main">
            <a:pPr marL="228600" indent="-127000" algn="l">
              <a:spcAft>
                <a:spcPts val="1600"/>
              </a:spcAft>
              <a:buChar char="•"/>
              <a:defRPr sz="1800" b="0">
                <a:solidFill>
                  <a:srgbClr val="17332F"/>
                </a:solidFill>
                <a:latin typeface="Arial"/>
                <a:ea typeface="Arial"/>
                <a:cs typeface="Arial"/>
              </a:defRPr>
            </a:pPr>
            <a:r>
              <a:rPr sz="1800">
                <a:solidFill>
                  <a:srgbClr val="17332F"/>
                </a:solidFill>
                <a:latin typeface="Arial"/>
                <a:ea typeface="Arial"/>
                <a:cs typeface="Arial"/>
              </a:rPr>
              <a:t>Public HTTPS application</a:t>
            </a:r>
          </a:p>
          <a:p xmlns:a="http://schemas.openxmlformats.org/drawingml/2006/main">
            <a:pPr marL="228600" indent="-127000" algn="l">
              <a:spcAft>
                <a:spcPts val="1600"/>
              </a:spcAft>
              <a:buChar char="•"/>
              <a:defRPr sz="1800" b="0">
                <a:solidFill>
                  <a:srgbClr val="17332F"/>
                </a:solidFill>
                <a:latin typeface="Arial"/>
                <a:ea typeface="Arial"/>
                <a:cs typeface="Arial"/>
              </a:defRPr>
            </a:pPr>
            <a:r>
              <a:rPr sz="1800">
                <a:solidFill>
                  <a:srgbClr val="17332F"/>
                </a:solidFill>
                <a:latin typeface="Arial"/>
                <a:ea typeface="Arial"/>
                <a:cs typeface="Arial"/>
              </a:rPr>
              <a:t>Registration and authentication</a:t>
            </a:r>
          </a:p>
          <a:p xmlns:a="http://schemas.openxmlformats.org/drawingml/2006/main">
            <a:pPr marL="228600" indent="-127000" algn="l">
              <a:spcAft>
                <a:spcPts val="1600"/>
              </a:spcAft>
              <a:buChar char="•"/>
              <a:defRPr sz="1800" b="0">
                <a:solidFill>
                  <a:srgbClr val="17332F"/>
                </a:solidFill>
                <a:latin typeface="Arial"/>
                <a:ea typeface="Arial"/>
                <a:cs typeface="Arial"/>
              </a:defRPr>
            </a:pPr>
            <a:r>
              <a:rPr sz="1800">
                <a:solidFill>
                  <a:srgbClr val="17332F"/>
                </a:solidFill>
                <a:latin typeface="Arial"/>
                <a:ea typeface="Arial"/>
                <a:cs typeface="Arial"/>
              </a:rPr>
              <a:t>Upload, preview, download and deletion</a:t>
            </a:r>
          </a:p>
          <a:p xmlns:a="http://schemas.openxmlformats.org/drawingml/2006/main">
            <a:pPr marL="228600" indent="-127000" algn="l">
              <a:spcAft>
                <a:spcPts val="1600"/>
              </a:spcAft>
              <a:buChar char="•"/>
              <a:defRPr sz="1800" b="0">
                <a:solidFill>
                  <a:srgbClr val="17332F"/>
                </a:solidFill>
                <a:latin typeface="Arial"/>
                <a:ea typeface="Arial"/>
                <a:cs typeface="Arial"/>
              </a:defRPr>
            </a:pPr>
            <a:r>
              <a:rPr sz="1800">
                <a:solidFill>
                  <a:srgbClr val="17332F"/>
                </a:solidFill>
                <a:latin typeface="Arial"/>
                <a:ea typeface="Arial"/>
                <a:cs typeface="Arial"/>
              </a:rPr>
              <a:t>Temporary sharing with expiry</a:t>
            </a:r>
          </a:p>
          <a:p xmlns:a="http://schemas.openxmlformats.org/drawingml/2006/main">
            <a:pPr marL="228600" indent="-127000" algn="l">
              <a:spcAft>
                <a:spcPts val="1600"/>
              </a:spcAft>
              <a:buChar char="•"/>
              <a:defRPr sz="1800" b="0">
                <a:solidFill>
                  <a:srgbClr val="17332F"/>
                </a:solidFill>
                <a:latin typeface="Arial"/>
                <a:ea typeface="Arial"/>
                <a:cs typeface="Arial"/>
              </a:defRPr>
            </a:pPr>
            <a:r>
              <a:rPr sz="1800">
                <a:solidFill>
                  <a:srgbClr val="17332F"/>
                </a:solidFill>
                <a:latin typeface="Arial"/>
                <a:ea typeface="Arial"/>
                <a:cs typeface="Arial"/>
              </a:rPr>
              <a:t>EC2, RDS and S3 integration</a:t>
            </a:r>
          </a:p>
          <a:p xmlns:a="http://schemas.openxmlformats.org/drawingml/2006/main">
            <a:pPr marL="228600" indent="-127000" algn="l">
              <a:spcAft>
                <a:spcPts val="1600"/>
              </a:spcAft>
              <a:buChar char="•"/>
              <a:defRPr sz="1800" b="0">
                <a:solidFill>
                  <a:srgbClr val="17332F"/>
                </a:solidFill>
                <a:latin typeface="Arial"/>
                <a:ea typeface="Arial"/>
                <a:cs typeface="Arial"/>
              </a:defRPr>
            </a:pPr>
            <a:r>
              <a:rPr sz="1800">
                <a:solidFill>
                  <a:srgbClr val="17332F"/>
                </a:solidFill>
                <a:latin typeface="Arial"/>
                <a:ea typeface="Arial"/>
                <a:cs typeface="Arial"/>
              </a:rPr>
              <a:t>Shared application and deployment repository</a:t>
            </a:r>
          </a:p>
        </p:txBody>
      </p:sp>
      <p:pic>
        <p:nvPicPr>
          <p:cNvPr id="5" name="">
            <a:extLst xmlns:a="http://schemas.openxmlformats.org/drawingml/2006/main">
              <a:ext uri="{FF2B5EF4-FFF2-40B4-BE49-F238E27FC236}">
                <a16:creationId xmlns:a16="http://schemas.microsoft.com/office/drawing/2014/main" id="{9195EB6D-005A-4982-8250-EAAF6143E0BF}"/>
              </a:ext>
            </a:extLst>
          </p:cNvPr>
          <p:cNvPicPr>
            <a:picLocks xmlns:a="http://schemas.openxmlformats.org/drawingml/2006/main" noChangeAspect="1"/>
          </p:cNvPicPr>
          <p:nvPr/>
        </p:nvPicPr>
        <p:blipFill>
          <a:blip xmlns:r="http://schemas.openxmlformats.org/officeDocument/2006/relationships" xmlns:a="http://schemas.openxmlformats.org/drawingml/2006/main" r:embed="R46704190a3cc43c9"/>
          <a:stretch xmlns:a="http://schemas.openxmlformats.org/drawingml/2006/main"/>
        </p:blipFill>
        <p:spPr>
          <a:xfrm xmlns:a="http://schemas.openxmlformats.org/drawingml/2006/main">
            <a:off x="5431479" y="1495425"/>
            <a:ext cx="6186791" cy="4038600"/>
          </a:xfrm>
          <a:prstGeom xmlns:a="http://schemas.openxmlformats.org/drawingml/2006/main" prst="rect">
            <a:avLst/>
          </a:prstGeom>
        </p:spPr>
      </p:pic>
      <p:sp>
        <p:nvSpPr>
          <p:cNvPr id="6" name="text-90">
            <a:extLst xmlns:a="http://schemas.openxmlformats.org/drawingml/2006/main">
              <a:ext uri="{FF2B5EF4-FFF2-40B4-BE49-F238E27FC236}">
                <a16:creationId xmlns:a16="http://schemas.microsoft.com/office/drawing/2014/main" id="{3B04E662-8851-4C6B-91F3-FDCFE5E6E67A}"/>
              </a:ext>
            </a:extLst>
          </p:cNvPr>
          <p:cNvSpPr>
            <a:spLocks xmlns:a="http://schemas.openxmlformats.org/drawingml/2006/main" noGrp="1"/>
          </p:cNvSpPr>
          <p:nvPr/>
        </p:nvSpPr>
        <p:spPr>
          <a:xfrm xmlns:a="http://schemas.openxmlformats.org/drawingml/2006/main">
            <a:off x="5429250" y="5667375"/>
            <a:ext cx="619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37C73"/>
                </a:solidFill>
                <a:latin typeface="Arial"/>
                <a:ea typeface="Arial"/>
                <a:cs typeface="Arial"/>
              </a:defRPr>
            </a:defPPr>
          </a:lstStyle>
          <a:p xmlns:a="http://schemas.openxmlformats.org/drawingml/2006/main">
            <a:pPr algn="l">
              <a:defRPr sz="1650" b="1">
                <a:solidFill>
                  <a:srgbClr val="137C73"/>
                </a:solidFill>
                <a:latin typeface="Arial"/>
                <a:ea typeface="Arial"/>
                <a:cs typeface="Arial"/>
              </a:defRPr>
            </a:pPr>
            <a:r>
              <a:rPr sz="1650" b="1">
                <a:solidFill>
                  <a:srgbClr val="137C73"/>
                </a:solidFill>
                <a:latin typeface="Arial"/>
                <a:ea typeface="Arial"/>
                <a:cs typeface="Arial"/>
              </a:rPr>
              <a:t>CloudDrop dashboard</a:t>
            </a:r>
          </a:p>
        </p:txBody>
      </p:sp>
      <p:sp>
        <p:nvSpPr>
          <p:cNvPr id="7" name="text-91">
            <a:extLst xmlns:a="http://schemas.openxmlformats.org/drawingml/2006/main">
              <a:ext uri="{FF2B5EF4-FFF2-40B4-BE49-F238E27FC236}">
                <a16:creationId xmlns:a16="http://schemas.microsoft.com/office/drawing/2014/main" id="{B7AA46D0-5A68-4FC4-84BF-8ACEB691975D}"/>
              </a:ext>
            </a:extLst>
          </p:cNvPr>
          <p:cNvSpPr>
            <a:spLocks xmlns:a="http://schemas.openxmlformats.org/drawingml/2006/main" noGrp="1"/>
          </p:cNvSpPr>
          <p:nvPr/>
        </p:nvSpPr>
        <p:spPr>
          <a:xfrm xmlns:a="http://schemas.openxmlformats.org/drawingml/2006/main">
            <a:off x="5429250" y="59817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61"/>
                </a:solidFill>
                <a:latin typeface="Arial"/>
                <a:ea typeface="Arial"/>
                <a:cs typeface="Arial"/>
              </a:defRPr>
            </a:defPPr>
          </a:lstStyle>
          <a:p xmlns:a="http://schemas.openxmlformats.org/drawingml/2006/main">
            <a:pPr algn="l">
              <a:defRPr sz="1350" b="0">
                <a:solidFill>
                  <a:srgbClr val="526561"/>
                </a:solidFill>
                <a:latin typeface="Arial"/>
                <a:ea typeface="Arial"/>
                <a:cs typeface="Arial"/>
              </a:defRPr>
            </a:pPr>
            <a:r>
              <a:rPr sz="1350" b="0">
                <a:solidFill>
                  <a:srgbClr val="526561"/>
                </a:solidFill>
                <a:latin typeface="Arial"/>
                <a:ea typeface="Arial"/>
                <a:cs typeface="Arial"/>
              </a:rPr>
              <a:t>QA frontend connected to the live backend</a:t>
            </a:r>
          </a:p>
        </p:txBody>
      </p:sp>
      <p:sp>
        <p:nvSpPr>
          <p:cNvPr id="8" name="text-92">
            <a:extLst xmlns:a="http://schemas.openxmlformats.org/drawingml/2006/main">
              <a:ext uri="{FF2B5EF4-FFF2-40B4-BE49-F238E27FC236}">
                <a16:creationId xmlns:a16="http://schemas.microsoft.com/office/drawing/2014/main" id="{E36A14F7-76DB-48E3-B320-E32243D78CD5}"/>
              </a:ext>
            </a:extLst>
          </p:cNvPr>
          <p:cNvSpPr>
            <a:spLocks xmlns:a="http://schemas.openxmlformats.org/drawingml/2006/main" noGrp="1"/>
          </p:cNvSpPr>
          <p:nvPr/>
        </p:nvSpPr>
        <p:spPr>
          <a:xfrm xmlns:a="http://schemas.openxmlformats.org/drawingml/2006/main">
            <a:off x="571500" y="5619750"/>
            <a:ext cx="442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37C73"/>
                </a:solidFill>
                <a:latin typeface="Arial"/>
                <a:ea typeface="Arial"/>
                <a:cs typeface="Arial"/>
              </a:defRPr>
            </a:defPPr>
          </a:lstStyle>
          <a:p xmlns:a="http://schemas.openxmlformats.org/drawingml/2006/main">
            <a:pPr algn="l">
              <a:defRPr sz="1650" b="1">
                <a:solidFill>
                  <a:srgbClr val="137C73"/>
                </a:solidFill>
                <a:latin typeface="Arial"/>
                <a:ea typeface="Arial"/>
                <a:cs typeface="Arial"/>
              </a:defRPr>
            </a:pPr>
            <a:r>
              <a:rPr sz="1650" b="1">
                <a:solidFill>
                  <a:srgbClr val="137C73"/>
                </a:solidFill>
                <a:latin typeface="Arial"/>
                <a:ea typeface="Arial"/>
                <a:cs typeface="Arial"/>
              </a:rPr>
              <a:t>1-hour expiry test: team-reported success</a:t>
            </a:r>
          </a:p>
        </p:txBody>
      </p:sp>
    </p:spTree>
    <p:extLst>
      <p:ext uri="{BB962C8B-B14F-4D97-AF65-F5344CB8AC3E}">
        <p14:creationId xmlns:p14="http://schemas.microsoft.com/office/powerpoint/2010/main" val="11843250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93">
            <a:extLst xmlns:a="http://schemas.openxmlformats.org/drawingml/2006/main">
              <a:ext uri="{FF2B5EF4-FFF2-40B4-BE49-F238E27FC236}">
                <a16:creationId xmlns:a16="http://schemas.microsoft.com/office/drawing/2014/main" id="{18A94DC6-D9EC-4700-B6F9-541D3DA1C449}"/>
              </a:ext>
            </a:extLst>
          </p:cNvPr>
          <p:cNvSpPr>
            <a:spLocks xmlns:a="http://schemas.openxmlformats.org/drawingml/2006/main" noGrp="1"/>
          </p:cNvSpPr>
          <p:nvPr/>
        </p:nvSpPr>
        <p:spPr>
          <a:xfrm xmlns:a="http://schemas.openxmlformats.org/drawingml/2006/main">
            <a:off x="571500" y="38100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7332F"/>
                </a:solidFill>
                <a:latin typeface="Arial"/>
                <a:ea typeface="Arial"/>
                <a:cs typeface="Arial"/>
              </a:defRPr>
            </a:defPPr>
          </a:lstStyle>
          <a:p xmlns:a="http://schemas.openxmlformats.org/drawingml/2006/main">
            <a:pPr algn="l">
              <a:defRPr sz="3000" b="1">
                <a:solidFill>
                  <a:srgbClr val="17332F"/>
                </a:solidFill>
                <a:latin typeface="Arial"/>
                <a:ea typeface="Arial"/>
                <a:cs typeface="Arial"/>
              </a:defRPr>
            </a:pPr>
            <a:r>
              <a:rPr sz="3000" b="1">
                <a:solidFill>
                  <a:srgbClr val="17332F"/>
                </a:solidFill>
                <a:latin typeface="Arial"/>
                <a:ea typeface="Arial"/>
                <a:cs typeface="Arial"/>
              </a:rPr>
              <a:t>What's Next for CloudDrop?</a:t>
            </a:r>
          </a:p>
        </p:txBody>
      </p:sp>
      <p:sp>
        <p:nvSpPr>
          <p:cNvPr id="2" name="">
            <a:extLst xmlns:a="http://schemas.openxmlformats.org/drawingml/2006/main">
              <a:ext uri="{FF2B5EF4-FFF2-40B4-BE49-F238E27FC236}">
                <a16:creationId xmlns:a16="http://schemas.microsoft.com/office/drawing/2014/main" id="{BE5A228F-795E-4EAD-B256-B32B75768183}"/>
              </a:ext>
            </a:extLst>
          </p:cNvPr>
          <p:cNvSpPr>
            <a:spLocks xmlns:a="http://schemas.openxmlformats.org/drawingml/2006/main" noGrp="1"/>
          </p:cNvSpPr>
          <p:nvPr/>
        </p:nvSpPr>
        <p:spPr>
          <a:xfrm xmlns:a="http://schemas.openxmlformats.org/drawingml/2006/main">
            <a:off x="571500" y="1095375"/>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3" name="text-94">
            <a:extLst xmlns:a="http://schemas.openxmlformats.org/drawingml/2006/main">
              <a:ext uri="{FF2B5EF4-FFF2-40B4-BE49-F238E27FC236}">
                <a16:creationId xmlns:a16="http://schemas.microsoft.com/office/drawing/2014/main" id="{120893EC-A39F-4B1E-978E-A11955F7DB0D}"/>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71807C"/>
                </a:solidFill>
                <a:latin typeface="Arial"/>
                <a:ea typeface="Arial"/>
                <a:cs typeface="Arial"/>
              </a:defRPr>
            </a:defPPr>
          </a:lstStyle>
          <a:p xmlns:a="http://schemas.openxmlformats.org/drawingml/2006/main">
            <a:pPr algn="r">
              <a:defRPr sz="1125" b="0">
                <a:solidFill>
                  <a:srgbClr val="71807C"/>
                </a:solidFill>
                <a:latin typeface="Arial"/>
                <a:ea typeface="Arial"/>
                <a:cs typeface="Arial"/>
              </a:defRPr>
            </a:pPr>
            <a:r>
              <a:rPr sz="1125" b="0">
                <a:solidFill>
                  <a:srgbClr val="71807C"/>
                </a:solidFill>
                <a:latin typeface="Arial"/>
                <a:ea typeface="Arial"/>
                <a:cs typeface="Arial"/>
              </a:rPr>
              <a:t>10</a:t>
            </a:r>
          </a:p>
        </p:txBody>
      </p:sp>
      <p:sp>
        <p:nvSpPr>
          <p:cNvPr id="4" name="text-95">
            <a:extLst xmlns:a="http://schemas.openxmlformats.org/drawingml/2006/main">
              <a:ext uri="{FF2B5EF4-FFF2-40B4-BE49-F238E27FC236}">
                <a16:creationId xmlns:a16="http://schemas.microsoft.com/office/drawing/2014/main" id="{959259B2-266B-4B72-8F2F-D9B3808480BA}"/>
              </a:ext>
            </a:extLst>
          </p:cNvPr>
          <p:cNvSpPr>
            <a:spLocks xmlns:a="http://schemas.openxmlformats.org/drawingml/2006/main" noGrp="1"/>
          </p:cNvSpPr>
          <p:nvPr/>
        </p:nvSpPr>
        <p:spPr>
          <a:xfrm xmlns:a="http://schemas.openxmlformats.org/drawingml/2006/main">
            <a:off x="571500" y="1504950"/>
            <a:ext cx="10810875"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32F"/>
                </a:solidFill>
                <a:latin typeface="Arial"/>
                <a:ea typeface="Arial"/>
                <a:cs typeface="Arial"/>
              </a:defRPr>
            </a:defPPr>
          </a:lstStyle>
          <a:p xmlns:a="http://schemas.openxmlformats.org/drawingml/2006/main">
            <a:pPr marL="228600" indent="-127000" algn="l">
              <a:spcAft>
                <a:spcPts val="1600"/>
              </a:spcAft>
              <a:buChar char="•"/>
              <a:defRPr sz="2175" b="0">
                <a:solidFill>
                  <a:srgbClr val="17332F"/>
                </a:solidFill>
                <a:latin typeface="Arial"/>
                <a:ea typeface="Arial"/>
                <a:cs typeface="Arial"/>
              </a:defRPr>
            </a:pPr>
            <a:r>
              <a:rPr sz="2175">
                <a:solidFill>
                  <a:srgbClr val="17332F"/>
                </a:solidFill>
                <a:latin typeface="Arial"/>
                <a:ea typeface="Arial"/>
                <a:cs typeface="Arial"/>
              </a:rPr>
              <a:t>Advanced search, folders and richer organization</a:t>
            </a:r>
          </a:p>
          <a:p xmlns:a="http://schemas.openxmlformats.org/drawingml/2006/main">
            <a:pPr marL="228600" indent="-127000" algn="l">
              <a:spcAft>
                <a:spcPts val="1600"/>
              </a:spcAft>
              <a:buChar char="•"/>
              <a:defRPr sz="2175" b="0">
                <a:solidFill>
                  <a:srgbClr val="17332F"/>
                </a:solidFill>
                <a:latin typeface="Arial"/>
                <a:ea typeface="Arial"/>
                <a:cs typeface="Arial"/>
              </a:defRPr>
            </a:pPr>
            <a:r>
              <a:rPr sz="2175">
                <a:solidFill>
                  <a:srgbClr val="17332F"/>
                </a:solidFill>
                <a:latin typeface="Arial"/>
                <a:ea typeface="Arial"/>
                <a:cs typeface="Arial"/>
              </a:rPr>
              <a:t>File version history and recovery</a:t>
            </a:r>
          </a:p>
          <a:p xmlns:a="http://schemas.openxmlformats.org/drawingml/2006/main">
            <a:pPr marL="228600" indent="-127000" algn="l">
              <a:spcAft>
                <a:spcPts val="1600"/>
              </a:spcAft>
              <a:buChar char="•"/>
              <a:defRPr sz="2175" b="0">
                <a:solidFill>
                  <a:srgbClr val="17332F"/>
                </a:solidFill>
                <a:latin typeface="Arial"/>
                <a:ea typeface="Arial"/>
                <a:cs typeface="Arial"/>
              </a:defRPr>
            </a:pPr>
            <a:r>
              <a:rPr sz="2175">
                <a:solidFill>
                  <a:srgbClr val="17332F"/>
                </a:solidFill>
                <a:latin typeface="Arial"/>
                <a:ea typeface="Arial"/>
                <a:cs typeface="Arial"/>
              </a:rPr>
              <a:t>Centralized monitoring and alerting</a:t>
            </a:r>
          </a:p>
          <a:p xmlns:a="http://schemas.openxmlformats.org/drawingml/2006/main">
            <a:pPr marL="228600" indent="-127000" algn="l">
              <a:spcAft>
                <a:spcPts val="1600"/>
              </a:spcAft>
              <a:buChar char="•"/>
              <a:defRPr sz="2175" b="0">
                <a:solidFill>
                  <a:srgbClr val="17332F"/>
                </a:solidFill>
                <a:latin typeface="Arial"/>
                <a:ea typeface="Arial"/>
                <a:cs typeface="Arial"/>
              </a:defRPr>
            </a:pPr>
            <a:r>
              <a:rPr sz="2175">
                <a:solidFill>
                  <a:srgbClr val="17332F"/>
                </a:solidFill>
                <a:latin typeface="Arial"/>
                <a:ea typeface="Arial"/>
                <a:cs typeface="Arial"/>
              </a:rPr>
              <a:t>Broader performance and load testing</a:t>
            </a:r>
          </a:p>
          <a:p xmlns:a="http://schemas.openxmlformats.org/drawingml/2006/main">
            <a:pPr marL="228600" indent="-127000" algn="l">
              <a:spcAft>
                <a:spcPts val="1600"/>
              </a:spcAft>
              <a:buChar char="•"/>
              <a:defRPr sz="2175" b="0">
                <a:solidFill>
                  <a:srgbClr val="17332F"/>
                </a:solidFill>
                <a:latin typeface="Arial"/>
                <a:ea typeface="Arial"/>
                <a:cs typeface="Arial"/>
              </a:defRPr>
            </a:pPr>
            <a:r>
              <a:rPr sz="2175">
                <a:solidFill>
                  <a:srgbClr val="17332F"/>
                </a:solidFill>
                <a:latin typeface="Arial"/>
                <a:ea typeface="Arial"/>
                <a:cs typeface="Arial"/>
              </a:rPr>
              <a:t>Horizontal scaling and improved availability</a:t>
            </a:r>
          </a:p>
          <a:p xmlns:a="http://schemas.openxmlformats.org/drawingml/2006/main">
            <a:pPr marL="228600" indent="-127000" algn="l">
              <a:spcAft>
                <a:spcPts val="1600"/>
              </a:spcAft>
              <a:buChar char="•"/>
              <a:defRPr sz="2175" b="0">
                <a:solidFill>
                  <a:srgbClr val="17332F"/>
                </a:solidFill>
                <a:latin typeface="Arial"/>
                <a:ea typeface="Arial"/>
                <a:cs typeface="Arial"/>
              </a:defRPr>
            </a:pPr>
            <a:r>
              <a:rPr sz="2175">
                <a:solidFill>
                  <a:srgbClr val="17332F"/>
                </a:solidFill>
                <a:latin typeface="Arial"/>
                <a:ea typeface="Arial"/>
                <a:cs typeface="Arial"/>
              </a:rPr>
              <a:t>More file management and collaboration features</a:t>
            </a:r>
          </a:p>
        </p:txBody>
      </p:sp>
      <p:sp>
        <p:nvSpPr>
          <p:cNvPr id="5" name="text-96">
            <a:extLst xmlns:a="http://schemas.openxmlformats.org/drawingml/2006/main">
              <a:ext uri="{FF2B5EF4-FFF2-40B4-BE49-F238E27FC236}">
                <a16:creationId xmlns:a16="http://schemas.microsoft.com/office/drawing/2014/main" id="{83410653-BCDD-4F74-9B59-636AFCAC5F2B}"/>
              </a:ext>
            </a:extLst>
          </p:cNvPr>
          <p:cNvSpPr>
            <a:spLocks xmlns:a="http://schemas.openxmlformats.org/drawingml/2006/main" noGrp="1"/>
          </p:cNvSpPr>
          <p:nvPr/>
        </p:nvSpPr>
        <p:spPr>
          <a:xfrm xmlns:a="http://schemas.openxmlformats.org/drawingml/2006/main">
            <a:off x="571500" y="59150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37C73"/>
                </a:solidFill>
                <a:latin typeface="Arial"/>
                <a:ea typeface="Arial"/>
                <a:cs typeface="Arial"/>
              </a:defRPr>
            </a:defPPr>
          </a:lstStyle>
          <a:p xmlns:a="http://schemas.openxmlformats.org/drawingml/2006/main">
            <a:pPr algn="l">
              <a:defRPr sz="1800" b="1">
                <a:solidFill>
                  <a:srgbClr val="137C73"/>
                </a:solidFill>
                <a:latin typeface="Arial"/>
                <a:ea typeface="Arial"/>
                <a:cs typeface="Arial"/>
              </a:defRPr>
            </a:pPr>
            <a:r>
              <a:rPr sz="1800" b="1">
                <a:solidFill>
                  <a:srgbClr val="137C73"/>
                </a:solidFill>
                <a:latin typeface="Arial"/>
                <a:ea typeface="Arial"/>
                <a:cs typeface="Arial"/>
              </a:rPr>
              <a:t>Proposed enhancements</a:t>
            </a:r>
          </a:p>
        </p:txBody>
      </p:sp>
    </p:spTree>
    <p:extLst>
      <p:ext uri="{BB962C8B-B14F-4D97-AF65-F5344CB8AC3E}">
        <p14:creationId xmlns:p14="http://schemas.microsoft.com/office/powerpoint/2010/main" val="5786007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97">
            <a:extLst xmlns:a="http://schemas.openxmlformats.org/drawingml/2006/main">
              <a:ext uri="{FF2B5EF4-FFF2-40B4-BE49-F238E27FC236}">
                <a16:creationId xmlns:a16="http://schemas.microsoft.com/office/drawing/2014/main" id="{A7D24C23-9F40-4D88-B44B-41723B067BB7}"/>
              </a:ext>
            </a:extLst>
          </p:cNvPr>
          <p:cNvSpPr>
            <a:spLocks xmlns:a="http://schemas.openxmlformats.org/drawingml/2006/main" noGrp="1"/>
          </p:cNvSpPr>
          <p:nvPr/>
        </p:nvSpPr>
        <p:spPr>
          <a:xfrm xmlns:a="http://schemas.openxmlformats.org/drawingml/2006/main">
            <a:off x="571500" y="314325"/>
            <a:ext cx="11049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7332F"/>
                </a:solidFill>
                <a:latin typeface="Arial"/>
                <a:ea typeface="Arial"/>
                <a:cs typeface="Arial"/>
              </a:defRPr>
            </a:defPPr>
          </a:lstStyle>
          <a:p xmlns:a="http://schemas.openxmlformats.org/drawingml/2006/main">
            <a:pPr algn="l">
              <a:defRPr sz="2625" b="1">
                <a:solidFill>
                  <a:srgbClr val="17332F"/>
                </a:solidFill>
                <a:latin typeface="Arial"/>
                <a:ea typeface="Arial"/>
                <a:cs typeface="Arial"/>
              </a:defRPr>
            </a:pPr>
            <a:r>
              <a:rPr sz="2625" b="1">
                <a:solidFill>
                  <a:srgbClr val="17332F"/>
                </a:solidFill>
                <a:latin typeface="Arial"/>
                <a:ea typeface="Arial"/>
                <a:cs typeface="Arial"/>
              </a:rPr>
              <a:t>CloudDrop: From Cloud Architecture</a:t>
            </a:r>
          </a:p>
          <a:p xmlns:a="http://schemas.openxmlformats.org/drawingml/2006/main">
            <a:pPr algn="l">
              <a:defRPr sz="2625" b="1">
                <a:solidFill>
                  <a:srgbClr val="17332F"/>
                </a:solidFill>
                <a:latin typeface="Arial"/>
                <a:ea typeface="Arial"/>
                <a:cs typeface="Arial"/>
              </a:defRPr>
            </a:pPr>
            <a:r>
              <a:rPr sz="2625" b="1">
                <a:solidFill>
                  <a:srgbClr val="17332F"/>
                </a:solidFill>
                <a:latin typeface="Arial"/>
                <a:ea typeface="Arial"/>
                <a:cs typeface="Arial"/>
              </a:rPr>
              <a:t>to a Working Application</a:t>
            </a:r>
          </a:p>
        </p:txBody>
      </p:sp>
      <p:sp>
        <p:nvSpPr>
          <p:cNvPr id="2" name="">
            <a:extLst xmlns:a="http://schemas.openxmlformats.org/drawingml/2006/main">
              <a:ext uri="{FF2B5EF4-FFF2-40B4-BE49-F238E27FC236}">
                <a16:creationId xmlns:a16="http://schemas.microsoft.com/office/drawing/2014/main" id="{9A0347A6-7A33-4899-8D56-861721183347}"/>
              </a:ext>
            </a:extLst>
          </p:cNvPr>
          <p:cNvSpPr>
            <a:spLocks xmlns:a="http://schemas.openxmlformats.org/drawingml/2006/main" noGrp="1"/>
          </p:cNvSpPr>
          <p:nvPr/>
        </p:nvSpPr>
        <p:spPr>
          <a:xfrm xmlns:a="http://schemas.openxmlformats.org/drawingml/2006/main">
            <a:off x="571500" y="1247775"/>
            <a:ext cx="11049000" cy="0"/>
          </a:xfrm>
          <a:prstGeom xmlns:a="http://schemas.openxmlformats.org/drawingml/2006/main" prst="line">
            <a:avLst/>
          </a:prstGeom>
          <a:noFill xmlns:a="http://schemas.openxmlformats.org/drawingml/2006/main"/>
          <a:ln xmlns:a="http://schemas.openxmlformats.org/drawingml/2006/main" w="9525">
            <a:solidFill>
              <a:srgbClr val="CCDAD5"/>
            </a:solidFill>
          </a:ln>
        </p:spPr>
      </p:sp>
      <p:sp>
        <p:nvSpPr>
          <p:cNvPr id="3" name="text-98">
            <a:extLst xmlns:a="http://schemas.openxmlformats.org/drawingml/2006/main">
              <a:ext uri="{FF2B5EF4-FFF2-40B4-BE49-F238E27FC236}">
                <a16:creationId xmlns:a16="http://schemas.microsoft.com/office/drawing/2014/main" id="{C808D1CC-EEF2-4989-AE2B-7D4BB5135CB5}"/>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71807C"/>
                </a:solidFill>
                <a:latin typeface="Arial"/>
                <a:ea typeface="Arial"/>
                <a:cs typeface="Arial"/>
              </a:defRPr>
            </a:defPPr>
          </a:lstStyle>
          <a:p xmlns:a="http://schemas.openxmlformats.org/drawingml/2006/main">
            <a:pPr algn="r">
              <a:defRPr sz="1125" b="0">
                <a:solidFill>
                  <a:srgbClr val="71807C"/>
                </a:solidFill>
                <a:latin typeface="Arial"/>
                <a:ea typeface="Arial"/>
                <a:cs typeface="Arial"/>
              </a:defRPr>
            </a:pPr>
            <a:r>
              <a:rPr sz="1125" b="0">
                <a:solidFill>
                  <a:srgbClr val="71807C"/>
                </a:solidFill>
                <a:latin typeface="Arial"/>
                <a:ea typeface="Arial"/>
                <a:cs typeface="Arial"/>
              </a:rPr>
              <a:t>11</a:t>
            </a:r>
          </a:p>
        </p:txBody>
      </p:sp>
      <p:sp>
        <p:nvSpPr>
          <p:cNvPr id="4" name="text-99">
            <a:extLst xmlns:a="http://schemas.openxmlformats.org/drawingml/2006/main">
              <a:ext uri="{FF2B5EF4-FFF2-40B4-BE49-F238E27FC236}">
                <a16:creationId xmlns:a16="http://schemas.microsoft.com/office/drawing/2014/main" id="{20C82121-0C45-407B-9E0D-A5230C78DB46}"/>
              </a:ext>
            </a:extLst>
          </p:cNvPr>
          <p:cNvSpPr>
            <a:spLocks xmlns:a="http://schemas.openxmlformats.org/drawingml/2006/main" noGrp="1"/>
          </p:cNvSpPr>
          <p:nvPr/>
        </p:nvSpPr>
        <p:spPr>
          <a:xfrm xmlns:a="http://schemas.openxmlformats.org/drawingml/2006/main">
            <a:off x="571500" y="14573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332F"/>
                </a:solidFill>
                <a:latin typeface="Arial"/>
                <a:ea typeface="Arial"/>
                <a:cs typeface="Arial"/>
              </a:defRPr>
            </a:defPPr>
          </a:lstStyle>
          <a:p xmlns:a="http://schemas.openxmlformats.org/drawingml/2006/main">
            <a:pPr algn="l">
              <a:defRPr sz="1800" b="0">
                <a:solidFill>
                  <a:srgbClr val="17332F"/>
                </a:solidFill>
                <a:latin typeface="Arial"/>
                <a:ea typeface="Arial"/>
                <a:cs typeface="Arial"/>
              </a:defRPr>
            </a:pPr>
            <a:r>
              <a:rPr sz="1800" b="0">
                <a:solidFill>
                  <a:srgbClr val="17332F"/>
                </a:solidFill>
                <a:latin typeface="Arial"/>
                <a:ea typeface="Arial"/>
                <a:cs typeface="Arial"/>
              </a:rPr>
              <a:t>AWS compute, private object storage, managed data, application security and deployment automation in one working application.</a:t>
            </a:r>
          </a:p>
        </p:txBody>
      </p:sp>
      <p:pic>
        <p:nvPicPr>
          <p:cNvPr id="5" name="">
            <a:extLst xmlns:a="http://schemas.openxmlformats.org/drawingml/2006/main">
              <a:ext uri="{FF2B5EF4-FFF2-40B4-BE49-F238E27FC236}">
                <a16:creationId xmlns:a16="http://schemas.microsoft.com/office/drawing/2014/main" id="{03F32E3A-11ED-4573-B390-C8BC89515157}"/>
              </a:ext>
            </a:extLst>
          </p:cNvPr>
          <p:cNvPicPr>
            <a:picLocks xmlns:a="http://schemas.openxmlformats.org/drawingml/2006/main" noChangeAspect="1"/>
          </p:cNvPicPr>
          <p:nvPr/>
        </p:nvPicPr>
        <p:blipFill>
          <a:blip xmlns:r="http://schemas.openxmlformats.org/officeDocument/2006/relationships" xmlns:a="http://schemas.openxmlformats.org/drawingml/2006/main" r:embed="Rf47fd3bb047642d7"/>
          <a:srcRect xmlns:a="http://schemas.openxmlformats.org/drawingml/2006/main" l="16000" t="4000" r="1000" b="40000"/>
          <a:stretch xmlns:a="http://schemas.openxmlformats.org/drawingml/2006/main"/>
        </p:blipFill>
        <p:spPr>
          <a:xfrm xmlns:a="http://schemas.openxmlformats.org/drawingml/2006/main">
            <a:off x="571500" y="2328863"/>
            <a:ext cx="3429000" cy="24003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3130D0D-F7E3-4EE8-A6BA-D377B9AE0164}"/>
              </a:ext>
            </a:extLst>
          </p:cNvPr>
          <p:cNvPicPr>
            <a:picLocks xmlns:a="http://schemas.openxmlformats.org/drawingml/2006/main" noChangeAspect="1"/>
          </p:cNvPicPr>
          <p:nvPr/>
        </p:nvPicPr>
        <p:blipFill>
          <a:blip xmlns:r="http://schemas.openxmlformats.org/officeDocument/2006/relationships" xmlns:a="http://schemas.openxmlformats.org/drawingml/2006/main" r:embed="R3f3a30f1cebb4c34"/>
          <a:srcRect xmlns:a="http://schemas.openxmlformats.org/drawingml/2006/main" l="16000" t="8000" r="2000" b="20000"/>
          <a:stretch xmlns:a="http://schemas.openxmlformats.org/drawingml/2006/main"/>
        </p:blipFill>
        <p:spPr>
          <a:xfrm xmlns:a="http://schemas.openxmlformats.org/drawingml/2006/main">
            <a:off x="4381500" y="2588128"/>
            <a:ext cx="3429000" cy="1881768"/>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340668A-11D0-495C-9905-D9F45EFABAC6}"/>
              </a:ext>
            </a:extLst>
          </p:cNvPr>
          <p:cNvPicPr>
            <a:picLocks xmlns:a="http://schemas.openxmlformats.org/drawingml/2006/main" noChangeAspect="1"/>
          </p:cNvPicPr>
          <p:nvPr/>
        </p:nvPicPr>
        <p:blipFill>
          <a:blip xmlns:r="http://schemas.openxmlformats.org/officeDocument/2006/relationships" xmlns:a="http://schemas.openxmlformats.org/drawingml/2006/main" r:embed="R43c77273393643e4"/>
          <a:srcRect xmlns:a="http://schemas.openxmlformats.org/drawingml/2006/main" l="4500" t="22000" r="4500" b="22000"/>
          <a:stretch xmlns:a="http://schemas.openxmlformats.org/drawingml/2006/main"/>
        </p:blipFill>
        <p:spPr>
          <a:xfrm xmlns:a="http://schemas.openxmlformats.org/drawingml/2006/main">
            <a:off x="8710525" y="2276475"/>
            <a:ext cx="2390951" cy="2505075"/>
          </a:xfrm>
          <a:prstGeom xmlns:a="http://schemas.openxmlformats.org/drawingml/2006/main" prst="rect">
            <a:avLst/>
          </a:prstGeom>
        </p:spPr>
      </p:pic>
      <p:sp>
        <p:nvSpPr>
          <p:cNvPr id="8" name="text-100">
            <a:extLst xmlns:a="http://schemas.openxmlformats.org/drawingml/2006/main">
              <a:ext uri="{FF2B5EF4-FFF2-40B4-BE49-F238E27FC236}">
                <a16:creationId xmlns:a16="http://schemas.microsoft.com/office/drawing/2014/main" id="{37946172-2D42-4861-B78A-06C5D4AC6E9F}"/>
              </a:ext>
            </a:extLst>
          </p:cNvPr>
          <p:cNvSpPr>
            <a:spLocks xmlns:a="http://schemas.openxmlformats.org/drawingml/2006/main" noGrp="1"/>
          </p:cNvSpPr>
          <p:nvPr/>
        </p:nvSpPr>
        <p:spPr>
          <a:xfrm xmlns:a="http://schemas.openxmlformats.org/drawingml/2006/main">
            <a:off x="571500" y="4914900"/>
            <a:ext cx="342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37C73"/>
                </a:solidFill>
                <a:latin typeface="Arial"/>
                <a:ea typeface="Arial"/>
                <a:cs typeface="Arial"/>
              </a:defRPr>
            </a:defPPr>
          </a:lstStyle>
          <a:p xmlns:a="http://schemas.openxmlformats.org/drawingml/2006/main">
            <a:pPr algn="l">
              <a:defRPr sz="1575" b="1">
                <a:solidFill>
                  <a:srgbClr val="137C73"/>
                </a:solidFill>
                <a:latin typeface="Arial"/>
                <a:ea typeface="Arial"/>
                <a:cs typeface="Arial"/>
              </a:defRPr>
            </a:pPr>
            <a:r>
              <a:rPr sz="1575" b="1">
                <a:solidFill>
                  <a:srgbClr val="137C73"/>
                </a:solidFill>
                <a:latin typeface="Arial"/>
                <a:ea typeface="Arial"/>
                <a:cs typeface="Arial"/>
              </a:rPr>
              <a:t>Upload queue</a:t>
            </a:r>
          </a:p>
        </p:txBody>
      </p:sp>
      <p:sp>
        <p:nvSpPr>
          <p:cNvPr id="9" name="text-101">
            <a:extLst xmlns:a="http://schemas.openxmlformats.org/drawingml/2006/main">
              <a:ext uri="{FF2B5EF4-FFF2-40B4-BE49-F238E27FC236}">
                <a16:creationId xmlns:a16="http://schemas.microsoft.com/office/drawing/2014/main" id="{08DDF577-6169-49C4-B5B2-583407B7DF48}"/>
              </a:ext>
            </a:extLst>
          </p:cNvPr>
          <p:cNvSpPr>
            <a:spLocks xmlns:a="http://schemas.openxmlformats.org/drawingml/2006/main" noGrp="1"/>
          </p:cNvSpPr>
          <p:nvPr/>
        </p:nvSpPr>
        <p:spPr>
          <a:xfrm xmlns:a="http://schemas.openxmlformats.org/drawingml/2006/main">
            <a:off x="4381500" y="4914900"/>
            <a:ext cx="342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37C73"/>
                </a:solidFill>
                <a:latin typeface="Arial"/>
                <a:ea typeface="Arial"/>
                <a:cs typeface="Arial"/>
              </a:defRPr>
            </a:defPPr>
          </a:lstStyle>
          <a:p xmlns:a="http://schemas.openxmlformats.org/drawingml/2006/main">
            <a:pPr algn="l">
              <a:defRPr sz="1575" b="1">
                <a:solidFill>
                  <a:srgbClr val="137C73"/>
                </a:solidFill>
                <a:latin typeface="Arial"/>
                <a:ea typeface="Arial"/>
                <a:cs typeface="Arial"/>
              </a:defRPr>
            </a:pPr>
            <a:r>
              <a:rPr sz="1575" b="1">
                <a:solidFill>
                  <a:srgbClr val="137C73"/>
                </a:solidFill>
                <a:latin typeface="Arial"/>
                <a:ea typeface="Arial"/>
                <a:cs typeface="Arial"/>
              </a:rPr>
              <a:t>File details and download</a:t>
            </a:r>
          </a:p>
        </p:txBody>
      </p:sp>
      <p:sp>
        <p:nvSpPr>
          <p:cNvPr id="10" name="text-102">
            <a:extLst xmlns:a="http://schemas.openxmlformats.org/drawingml/2006/main">
              <a:ext uri="{FF2B5EF4-FFF2-40B4-BE49-F238E27FC236}">
                <a16:creationId xmlns:a16="http://schemas.microsoft.com/office/drawing/2014/main" id="{5BA61247-2DF0-46DE-B9DE-141361FDB1C3}"/>
              </a:ext>
            </a:extLst>
          </p:cNvPr>
          <p:cNvSpPr>
            <a:spLocks xmlns:a="http://schemas.openxmlformats.org/drawingml/2006/main" noGrp="1"/>
          </p:cNvSpPr>
          <p:nvPr/>
        </p:nvSpPr>
        <p:spPr>
          <a:xfrm xmlns:a="http://schemas.openxmlformats.org/drawingml/2006/main">
            <a:off x="8191500" y="4914900"/>
            <a:ext cx="342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37C73"/>
                </a:solidFill>
                <a:latin typeface="Arial"/>
                <a:ea typeface="Arial"/>
                <a:cs typeface="Arial"/>
              </a:defRPr>
            </a:defPPr>
          </a:lstStyle>
          <a:p xmlns:a="http://schemas.openxmlformats.org/drawingml/2006/main">
            <a:pPr algn="l">
              <a:defRPr sz="1575" b="1">
                <a:solidFill>
                  <a:srgbClr val="137C73"/>
                </a:solidFill>
                <a:latin typeface="Arial"/>
                <a:ea typeface="Arial"/>
                <a:cs typeface="Arial"/>
              </a:defRPr>
            </a:pPr>
            <a:r>
              <a:rPr sz="1575" b="1">
                <a:solidFill>
                  <a:srgbClr val="137C73"/>
                </a:solidFill>
                <a:latin typeface="Arial"/>
                <a:ea typeface="Arial"/>
                <a:cs typeface="Arial"/>
              </a:rPr>
              <a:t>Temporary share link</a:t>
            </a:r>
          </a:p>
        </p:txBody>
      </p:sp>
      <p:sp>
        <p:nvSpPr>
          <p:cNvPr id="11" name="text-103">
            <a:extLst xmlns:a="http://schemas.openxmlformats.org/drawingml/2006/main">
              <a:ext uri="{FF2B5EF4-FFF2-40B4-BE49-F238E27FC236}">
                <a16:creationId xmlns:a16="http://schemas.microsoft.com/office/drawing/2014/main" id="{2DC8BAEB-29AA-4BE5-A7A3-A53AA973524A}"/>
              </a:ext>
            </a:extLst>
          </p:cNvPr>
          <p:cNvSpPr>
            <a:spLocks xmlns:a="http://schemas.openxmlformats.org/drawingml/2006/main" noGrp="1"/>
          </p:cNvSpPr>
          <p:nvPr/>
        </p:nvSpPr>
        <p:spPr>
          <a:xfrm xmlns:a="http://schemas.openxmlformats.org/drawingml/2006/main">
            <a:off x="571500" y="53911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37C73"/>
                </a:solidFill>
                <a:latin typeface="Arial"/>
                <a:ea typeface="Arial"/>
                <a:cs typeface="Arial"/>
              </a:defRPr>
            </a:defPPr>
          </a:lstStyle>
          <a:p xmlns:a="http://schemas.openxmlformats.org/drawingml/2006/main">
            <a:pPr algn="l">
              <a:defRPr sz="1500" b="0">
                <a:solidFill>
                  <a:srgbClr val="137C73"/>
                </a:solidFill>
                <a:latin typeface="Arial"/>
                <a:ea typeface="Arial"/>
                <a:cs typeface="Arial"/>
              </a:defRPr>
            </a:pPr>
            <a:r>
              <a:rPr sz="1500" b="0">
                <a:solidFill>
                  <a:srgbClr val="137C73"/>
                </a:solidFill>
                <a:latin typeface="Arial"/>
                <a:ea typeface="Arial"/>
                <a:cs typeface="Arial"/>
                <a:hlinkClick xmlns:r="http://schemas.openxmlformats.org/officeDocument/2006/relationships" r:id="R1ac3579b7c8a42ab"/>
              </a:rPr>
              <a:t>Live Application: https://clouddrop-c8.duckdns.org</a:t>
            </a:r>
          </a:p>
        </p:txBody>
      </p:sp>
      <p:sp>
        <p:nvSpPr>
          <p:cNvPr id="12" name="text-104">
            <a:extLst xmlns:a="http://schemas.openxmlformats.org/drawingml/2006/main">
              <a:ext uri="{FF2B5EF4-FFF2-40B4-BE49-F238E27FC236}">
                <a16:creationId xmlns:a16="http://schemas.microsoft.com/office/drawing/2014/main" id="{D434D689-9B6A-4CC1-B04B-B1CB3C137B6F}"/>
              </a:ext>
            </a:extLst>
          </p:cNvPr>
          <p:cNvSpPr>
            <a:spLocks xmlns:a="http://schemas.openxmlformats.org/drawingml/2006/main" noGrp="1"/>
          </p:cNvSpPr>
          <p:nvPr/>
        </p:nvSpPr>
        <p:spPr>
          <a:xfrm xmlns:a="http://schemas.openxmlformats.org/drawingml/2006/main">
            <a:off x="571500" y="576262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37C73"/>
                </a:solidFill>
                <a:latin typeface="Arial"/>
                <a:ea typeface="Arial"/>
                <a:cs typeface="Arial"/>
              </a:defRPr>
            </a:defPPr>
          </a:lstStyle>
          <a:p xmlns:a="http://schemas.openxmlformats.org/drawingml/2006/main">
            <a:pPr algn="l">
              <a:defRPr sz="1500" b="0">
                <a:solidFill>
                  <a:srgbClr val="137C73"/>
                </a:solidFill>
                <a:latin typeface="Arial"/>
                <a:ea typeface="Arial"/>
                <a:cs typeface="Arial"/>
              </a:defRPr>
            </a:pPr>
            <a:r>
              <a:rPr sz="1500" b="0">
                <a:solidFill>
                  <a:srgbClr val="137C73"/>
                </a:solidFill>
                <a:latin typeface="Arial"/>
                <a:ea typeface="Arial"/>
                <a:cs typeface="Arial"/>
                <a:hlinkClick xmlns:r="http://schemas.openxmlformats.org/officeDocument/2006/relationships" r:id="R52a910ba01784986"/>
              </a:rPr>
              <a:t>GitHub: https://github.com/OmoniyiIfeAbraham/CLOUDDROP</a:t>
            </a:r>
          </a:p>
        </p:txBody>
      </p:sp>
      <p:sp>
        <p:nvSpPr>
          <p:cNvPr id="13" name="text-105">
            <a:extLst xmlns:a="http://schemas.openxmlformats.org/drawingml/2006/main">
              <a:ext uri="{FF2B5EF4-FFF2-40B4-BE49-F238E27FC236}">
                <a16:creationId xmlns:a16="http://schemas.microsoft.com/office/drawing/2014/main" id="{392224C1-704C-4ADE-8EE0-7D740D58C0F1}"/>
              </a:ext>
            </a:extLst>
          </p:cNvPr>
          <p:cNvSpPr>
            <a:spLocks xmlns:a="http://schemas.openxmlformats.org/drawingml/2006/main" noGrp="1"/>
          </p:cNvSpPr>
          <p:nvPr/>
        </p:nvSpPr>
        <p:spPr>
          <a:xfrm xmlns:a="http://schemas.openxmlformats.org/drawingml/2006/main">
            <a:off x="571500" y="62293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37C73"/>
                </a:solidFill>
                <a:latin typeface="Arial"/>
                <a:ea typeface="Arial"/>
                <a:cs typeface="Arial"/>
              </a:defRPr>
            </a:defPPr>
          </a:lstStyle>
          <a:p xmlns:a="http://schemas.openxmlformats.org/drawingml/2006/main">
            <a:pPr algn="l">
              <a:defRPr sz="2250" b="1">
                <a:solidFill>
                  <a:srgbClr val="137C73"/>
                </a:solidFill>
                <a:latin typeface="Arial"/>
                <a:ea typeface="Arial"/>
                <a:cs typeface="Arial"/>
              </a:defRPr>
            </a:pPr>
            <a:r>
              <a:rPr sz="2250" b="1">
                <a:solidFill>
                  <a:srgbClr val="137C73"/>
                </a:solidFill>
                <a:latin typeface="Arial"/>
                <a:ea typeface="Arial"/>
                <a:cs typeface="Arial"/>
              </a:rPr>
              <a:t>Thank You — Live Demonstration</a:t>
            </a:r>
          </a:p>
        </p:txBody>
      </p:sp>
    </p:spTree>
    <p:extLst>
      <p:ext uri="{BB962C8B-B14F-4D97-AF65-F5344CB8AC3E}">
        <p14:creationId xmlns:p14="http://schemas.microsoft.com/office/powerpoint/2010/main" val="21430482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2026-10-16T14:07:22.9380000Z</dcterms:created>
  <dcterms:modified xsi:type="dcterms:W3CDTF">2026-10-16T14:07:22.9390000Z</dcterms:modified>
</coreProperties>
</file>